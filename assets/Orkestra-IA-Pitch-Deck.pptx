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4660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Ouverture (15 sec) :</a:t>
            </a:r>
          </a:p>
          <a:p>
            <a:r>
              <a:t>« Bonjour, je m'appelle Lucas Manivit, étudiant ingénieur à ESIEE-IT. Je présente FlowArchitect AI : une plateforme d'orchestration et de gouvernance des agents IA. Notre promesse : rendre ces agents portables, contrôlables et rentables. »</a:t>
            </a:r>
          </a:p>
          <a:p>
            <a:r>
              <a:t>Ton : posé, confiant, regard fixe.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Problème (30 sec) :</a:t>
            </a:r>
          </a:p>
          <a:p>
            <a:r>
              <a:t>« En 2025, on a vu une explosion d'outils pour créer des agents IA — MCP, LangChain, CrewAI, n8n, Zapier… Chaque acteur a son écosystème. Résultat : les freelances et les agences IA passent plus de temps à *connecter, surveiller et justifier* qu'à créer de la valeur. Les coûts API explosent, la sécurité est floue, le ROI est invérifiable. Et 80% des agents restent à l'état de POC. Le vrai problème n'est plus la création — c'est l'exploitation.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Solution (30 sec) :</a:t>
            </a:r>
          </a:p>
          <a:p>
            <a:r>
              <a:t>« FlowArchitect AI répond à ça avec sept fonctions clés : découvrir, comparer, connecter, documenter, superviser, gouverner, réutiliser. Pas pour remplacer LangChain ou n8n, mais pour s'asseoir au-dessus — une couche neutre qui rend l'écosystème pilotable. C'est la différence entre avoir des outils et avoir un système.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Architecture (30 sec) :</a:t>
            </a:r>
          </a:p>
          <a:p>
            <a:r>
              <a:t>« Concrètement, on s'interface en haut avec toutes les briques que les pros utilisent déjà : MCP, n8n, Make, Zapier, LangChain, CrewAI, et les LLM. Notre core en six modules : découverte, scoring risque/coût, orchestration, documentation auto, monitoring ROI et gouvernance human-in-the-loop. En sortie : des agents supervisés, une doc lisible par le client, un dashboard ROI, et des alertes en temps réel.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Marché (30 sec) :</a:t>
            </a:r>
          </a:p>
          <a:p>
            <a:r>
              <a:t>« Le marché des AI agents est estimé à 7,8 Md$ en 2025 — il passe à 52,6 Md$ en 2030 selon MarketsandMarkets. CAGR : 46%. C'est l'un des marchés tech les plus dynamiques actuellement. Notre cible servable réaliste, en France et Europe : 10 à 50 000 prospects qualifiés — agences IA, freelances no-code, consultants. Pour le lancement, on vise 100 à 500 premiers adopteurs.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Persona (25 sec) :</a:t>
            </a:r>
          </a:p>
          <a:p>
            <a:r>
              <a:t>« On cible Nicolas : 28 ans, consultant IA et automation, en agence ou en freelance. Il aide des PME à déployer des agents — prospection, support, reporting. Ses douleurs : outils dispersés, agents incontrôlables, RGPD flou, coûts opaques. Ce qu'il achète avec FlowArchitect : du temps, du contrôle, et la capacité de *prouver* la valeur à son client.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Proposition de valeur (25 sec) :</a:t>
            </a:r>
          </a:p>
          <a:p>
            <a:r>
              <a:t>« Avant : agents dispersés, coûts flous, doc manuelle, client sceptique. Avec FlowArchitect : tout centralisé, scoring auto, doc générée, monitoring live, contrôle humain. Résultat : des agents qui passent en production, des clients rassurés, et un ROI qu'on peut *présenter*. La différence entre vendre un POC et vendre un système.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Concurrence (30 sec) :</a:t>
            </a:r>
          </a:p>
          <a:p>
            <a:r>
              <a:t>« LangChain et CrewAI créent des agents. Zapier et n8n font tourner des workflows. Workato et Agentforce ciblent les grandes entreprises. Aucun n'adresse la couche gouvernance + monitoring multi-outils pour le segment freelance/agence/PME. C'est notre case vide. Et notre stratégie est ouverte : on s'intègre avec eux, on ne les attaque pas. Plus ils grossissent, plus on devient pertinent.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Business model (30 sec) :</a:t>
            </a:r>
          </a:p>
          <a:p>
            <a:r>
              <a:t>« SaaS classique avec cinq paliers : free pour découvrir, starter à 19-29€ pour freelances, pro à 79-99€ pour consultants — c'est notre cœur de cible —, agency à 249-499€ pour les agences IA, et enterprise à partir de 1000€/mois. Revenus secondaires : API pay-per-use, commission marketplace, audits premium. Objectif réaliste : 5 à 15k €/mois en mois 6 si on valide le PMF. Tout est hypothèse, je ne promets rien.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Triple impact (25 sec) :</a:t>
            </a:r>
          </a:p>
          <a:p>
            <a:r>
              <a:t>« Sur le pilier économique : gain de temps consultant, maîtrise des coûts LLM, SaaS récurrent. Sur l'environnemental — et je le dis honnêtement, l'IA n'est PAS neutre — l'objectif c'est de *rendre l'impact visible*, optimiser les appels via cache, éviter les agents redondants. Sur le social : démocratisation pour PME et freelances, contrôle humain réel, transparence. C'est aligné sur les ODD que l'école nous demande de traiter.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Roadmap (25 sec) :</a:t>
            </a:r>
          </a:p>
          <a:p>
            <a:r>
              <a:t>« 30 jours : landing, annuaire, première analyse — validation marché. 60 jours : MVP scoring + connecteurs MCP/n8n + dashboard. 90 jours : orchestration multi-agents et bêta payante — premiers euros. 6 mois : API, marketplace, offre enterprise. C'est ambitieux, c'est volontairement séquencé pour rester finançable par moi-même tant qu'il n'y a pas de tour de table.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Conclusion (20 sec) :</a:t>
            </a:r>
          </a:p>
          <a:p>
            <a:r>
              <a:t>« Je viens demander cinq choses concrètes à l'école : un accompagnement étudiant-entrepreneur, du feedback stratégique, accès à du réseau, aide pour tester avec dix utilisateurs réels, et un appui structuration pour le pitch investisseur. Prochaine étape : valider le MVP avec 10 freelances ou agences sur 30 jours. Merci. »</a:t>
            </a:r>
          </a:p>
          <a:p>
            <a:r>
              <a:t>Ton final : direct, ouvert, presque conversationnel. Pause avant les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ight Triangle 2"/>
          <p:cNvSpPr/>
          <p:nvPr/>
        </p:nvSpPr>
        <p:spPr>
          <a:xfrm>
            <a:off x="8686800" y="0"/>
            <a:ext cx="3504895" cy="2286000"/>
          </a:xfrm>
          <a:prstGeom prst="rtTriangle">
            <a:avLst/>
          </a:prstGeom>
          <a:solidFill>
            <a:srgbClr val="6E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73152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6E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812641"/>
            <a:ext cx="2377440" cy="203517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dirty="0">
                <a:solidFill>
                  <a:srgbClr val="FFFFFF"/>
                </a:solidFill>
                <a:latin typeface="Calibri"/>
              </a:rPr>
              <a:t>PITCH DECK · </a:t>
            </a:r>
            <a:r>
              <a:rPr lang="fr-FR" sz="1000" b="1" i="0" dirty="0">
                <a:solidFill>
                  <a:srgbClr val="FFFFFF"/>
                </a:solidFill>
                <a:latin typeface="Calibri"/>
              </a:rPr>
              <a:t>JUIN</a:t>
            </a:r>
            <a:r>
              <a:rPr sz="1000" b="1" i="0" dirty="0">
                <a:solidFill>
                  <a:srgbClr val="FFFFFF"/>
                </a:solidFill>
                <a:latin typeface="Calibri"/>
              </a:rPr>
              <a:t>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515600" cy="1371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0" b="1" i="0">
                <a:solidFill>
                  <a:srgbClr val="FFFFFF"/>
                </a:solidFill>
                <a:latin typeface="Calibri"/>
              </a:rPr>
              <a:t>Orkestra IA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063240"/>
            <a:ext cx="640080" cy="73152"/>
          </a:xfrm>
          <a:prstGeom prst="rect">
            <a:avLst/>
          </a:prstGeom>
          <a:solidFill>
            <a:srgbClr val="6E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105156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9E82FF"/>
                </a:solidFill>
                <a:latin typeface="Calibri"/>
              </a:rPr>
              <a:t>Plateforme d'orchestration et de gouvernance des agents 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105156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FFFFFF"/>
                </a:solidFill>
                <a:latin typeface="Calibri"/>
              </a:rPr>
              <a:t>« Rendre les agents IA portables, contrôlables et rentables. 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 dirty="0" err="1">
                <a:solidFill>
                  <a:srgbClr val="C0C8E0"/>
                </a:solidFill>
                <a:latin typeface="Calibri"/>
              </a:rPr>
              <a:t>Projet</a:t>
            </a:r>
            <a:r>
              <a:rPr sz="1400" b="0" i="0" dirty="0">
                <a:solidFill>
                  <a:srgbClr val="C0C8E0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C0C8E0"/>
                </a:solidFill>
                <a:latin typeface="Calibri"/>
              </a:rPr>
              <a:t>étudiant</a:t>
            </a:r>
            <a:r>
              <a:rPr sz="1400" b="0" i="0" dirty="0">
                <a:solidFill>
                  <a:srgbClr val="C0C8E0"/>
                </a:solidFill>
                <a:latin typeface="Calibri"/>
              </a:rPr>
              <a:t>-entrepreneur  ·  ESIEE-IT  ·  Lucas </a:t>
            </a:r>
            <a:r>
              <a:rPr sz="1400" b="0" i="0" dirty="0" err="1">
                <a:solidFill>
                  <a:srgbClr val="C0C8E0"/>
                </a:solidFill>
                <a:latin typeface="Calibri"/>
              </a:rPr>
              <a:t>Manivit</a:t>
            </a:r>
            <a:endParaRPr sz="1400" b="0" i="0" dirty="0">
              <a:solidFill>
                <a:srgbClr val="C0C8E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457200"/>
            <a:ext cx="1645920" cy="347472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645920" cy="34747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PROBLÈME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972800" cy="113633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 dirty="0">
                <a:solidFill>
                  <a:srgbClr val="0B1438"/>
                </a:solidFill>
                <a:latin typeface="Calibri"/>
              </a:rPr>
              <a:t>Les </a:t>
            </a:r>
            <a:r>
              <a:rPr lang="fr-FR" sz="3200" b="1" i="0" dirty="0">
                <a:solidFill>
                  <a:srgbClr val="0B1438"/>
                </a:solidFill>
                <a:latin typeface="Calibri"/>
              </a:rPr>
              <a:t>Workflows/</a:t>
            </a:r>
            <a:r>
              <a:rPr sz="3200" b="1" i="0" dirty="0">
                <a:solidFill>
                  <a:srgbClr val="0B1438"/>
                </a:solidFill>
                <a:latin typeface="Calibri"/>
              </a:rPr>
              <a:t>agents IA </a:t>
            </a:r>
            <a:r>
              <a:rPr sz="3200" b="1" i="0" dirty="0" err="1">
                <a:solidFill>
                  <a:srgbClr val="0B1438"/>
                </a:solidFill>
                <a:latin typeface="Calibri"/>
              </a:rPr>
              <a:t>explosent</a:t>
            </a:r>
            <a:r>
              <a:rPr sz="3200" b="1" i="0" dirty="0">
                <a:solidFill>
                  <a:srgbClr val="0B1438"/>
                </a:solidFill>
                <a:latin typeface="Calibri"/>
              </a:rPr>
              <a:t>. Le </a:t>
            </a:r>
            <a:r>
              <a:rPr sz="3200" b="1" i="0" dirty="0" err="1">
                <a:solidFill>
                  <a:srgbClr val="0B1438"/>
                </a:solidFill>
                <a:latin typeface="Calibri"/>
              </a:rPr>
              <a:t>marché</a:t>
            </a:r>
            <a:r>
              <a:rPr sz="3200" b="1" i="0" dirty="0">
                <a:solidFill>
                  <a:srgbClr val="0B1438"/>
                </a:solidFill>
                <a:latin typeface="Calibri"/>
              </a:rPr>
              <a:t> </a:t>
            </a:r>
            <a:r>
              <a:rPr sz="3200" b="1" i="0" dirty="0" err="1">
                <a:solidFill>
                  <a:srgbClr val="0B1438"/>
                </a:solidFill>
                <a:latin typeface="Calibri"/>
              </a:rPr>
              <a:t>devient</a:t>
            </a:r>
            <a:r>
              <a:rPr sz="3200" b="1" i="0" dirty="0">
                <a:solidFill>
                  <a:srgbClr val="0B1438"/>
                </a:solidFill>
                <a:latin typeface="Calibri"/>
              </a:rPr>
              <a:t> </a:t>
            </a:r>
            <a:r>
              <a:rPr sz="3200" b="1" i="0" dirty="0" err="1">
                <a:solidFill>
                  <a:srgbClr val="0B1438"/>
                </a:solidFill>
                <a:latin typeface="Calibri"/>
              </a:rPr>
              <a:t>ingérable</a:t>
            </a:r>
            <a:r>
              <a:rPr sz="3200" b="1" i="0" dirty="0">
                <a:solidFill>
                  <a:srgbClr val="0B1438"/>
                </a:solidFill>
                <a:latin typeface="Calibri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352044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E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60120" y="2240280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80160" y="2148840"/>
            <a:ext cx="28803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B1438"/>
                </a:solidFill>
                <a:latin typeface="Calibri"/>
              </a:rPr>
              <a:t>Outils dispersés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51760"/>
            <a:ext cx="3063240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A2E3A"/>
                </a:solidFill>
                <a:latin typeface="Calibri"/>
              </a:rPr>
              <a:t>MCP · LangChain · CrewAI · OpenAI · Claude · n8n · Make · Zapier — chaque équipe réinvente.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011680"/>
            <a:ext cx="352044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E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663440" y="2240280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83480" y="2148840"/>
            <a:ext cx="28803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B1438"/>
                </a:solidFill>
                <a:latin typeface="Calibri"/>
              </a:rPr>
              <a:t>Pas de standards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651760"/>
            <a:ext cx="3063240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A2E3A"/>
                </a:solidFill>
                <a:latin typeface="Calibri"/>
              </a:rPr>
              <a:t>Chaque framework a son format. Aucune portabilité réelle entre plateformes.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2011680"/>
            <a:ext cx="352044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E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366760" y="2240280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0" y="2148840"/>
            <a:ext cx="28803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B1438"/>
                </a:solidFill>
                <a:latin typeface="Calibri"/>
              </a:rPr>
              <a:t>Coûts API opaques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651760"/>
            <a:ext cx="3063240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A2E3A"/>
                </a:solidFill>
                <a:latin typeface="Calibri"/>
              </a:rPr>
              <a:t>Difficile de prévoir, suivre, optimiser la facture LLM en multi-agents.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749040"/>
            <a:ext cx="352044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E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60120" y="3977640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80160" y="3886200"/>
            <a:ext cx="28803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B1438"/>
                </a:solidFill>
                <a:latin typeface="Calibri"/>
              </a:rPr>
              <a:t>Sécurité &amp; RGPD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389120"/>
            <a:ext cx="3063240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A2E3A"/>
                </a:solidFill>
                <a:latin typeface="Calibri"/>
              </a:rPr>
              <a:t>Permissions floues, sortie de données vers l'extérieur, traces incomplètes.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3749040"/>
            <a:ext cx="352044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E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4663440" y="3977640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983480" y="3886200"/>
            <a:ext cx="28803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B1438"/>
                </a:solidFill>
                <a:latin typeface="Calibri"/>
              </a:rPr>
              <a:t>ROI non prouvable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4389120"/>
            <a:ext cx="3063240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A2E3A"/>
                </a:solidFill>
                <a:latin typeface="Calibri"/>
              </a:rPr>
              <a:t>On déploie sans mesure de gain. Les clients restent sceptiques.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3749040"/>
            <a:ext cx="352044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E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366760" y="3977640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86800" y="3886200"/>
            <a:ext cx="28803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B1438"/>
                </a:solidFill>
                <a:latin typeface="Calibri"/>
              </a:rPr>
              <a:t>Bloqué à la démo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4389120"/>
            <a:ext cx="3063240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A2E3A"/>
                </a:solidFill>
                <a:latin typeface="Calibri"/>
              </a:rPr>
              <a:t>L'agent fonctionne en POC mais explose en production sans gouvernance.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5897880"/>
            <a:ext cx="10698480" cy="640080"/>
          </a:xfrm>
          <a:prstGeom prst="roundRect">
            <a:avLst>
              <a:gd name="adj" fmla="val 15000"/>
            </a:avLst>
          </a:prstGeom>
          <a:solidFill>
            <a:srgbClr val="0B1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5943600"/>
            <a:ext cx="1033272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1">
                <a:solidFill>
                  <a:srgbClr val="FFFFFF"/>
                </a:solidFill>
                <a:latin typeface="Calibri"/>
              </a:rPr>
              <a:t>Le problème n'est plus de créer des agents IA. C'est de les rendre exploitables, contrôlables et rentables.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645920" cy="347472"/>
          </a:xfrm>
          <a:prstGeom prst="roundRect">
            <a:avLst>
              <a:gd name="adj" fmla="val 50000"/>
            </a:avLst>
          </a:prstGeom>
          <a:solidFill>
            <a:srgbClr val="6E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645920" cy="34747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97280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0B1438"/>
                </a:solidFill>
                <a:latin typeface="Calibri"/>
              </a:rPr>
              <a:t>Orkestra IA — la couche neutre entre les agents IA et vos systèmes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5147" y="2011680"/>
            <a:ext cx="2697480" cy="1463040"/>
          </a:xfrm>
          <a:prstGeom prst="roundRect">
            <a:avLst>
              <a:gd name="adj" fmla="val 10000"/>
            </a:avLst>
          </a:prstGeom>
          <a:solidFill>
            <a:srgbClr val="0B1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23747" y="2240280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6E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23747" y="2258568"/>
            <a:ext cx="41148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72387" y="2240280"/>
            <a:ext cx="17830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9E82FF"/>
                </a:solidFill>
                <a:latin typeface="Calibri"/>
              </a:rPr>
              <a:t>DISCOVER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747" y="2788920"/>
            <a:ext cx="233172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Découvrir les agents IA fiables (catalog qualifié)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29787" y="2011680"/>
            <a:ext cx="2697480" cy="1463040"/>
          </a:xfrm>
          <a:prstGeom prst="roundRect">
            <a:avLst>
              <a:gd name="adj" fmla="val 10000"/>
            </a:avLst>
          </a:prstGeom>
          <a:solidFill>
            <a:srgbClr val="0B1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558387" y="2240280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6E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58387" y="2258568"/>
            <a:ext cx="41148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07027" y="2240280"/>
            <a:ext cx="17830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9E82FF"/>
                </a:solidFill>
                <a:latin typeface="Calibri"/>
              </a:rPr>
              <a:t>COMPARE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8387" y="2788920"/>
            <a:ext cx="233172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Comparer usages, coûts, risques, permissions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4427" y="2011680"/>
            <a:ext cx="2697480" cy="1463040"/>
          </a:xfrm>
          <a:prstGeom prst="roundRect">
            <a:avLst>
              <a:gd name="adj" fmla="val 10000"/>
            </a:avLst>
          </a:prstGeom>
          <a:solidFill>
            <a:srgbClr val="0B1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393027" y="2240280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6E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93027" y="2258568"/>
            <a:ext cx="41148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1667" y="2240280"/>
            <a:ext cx="17830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9E82FF"/>
                </a:solidFill>
                <a:latin typeface="Calibri"/>
              </a:rPr>
              <a:t>CONNECT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3027" y="2788920"/>
            <a:ext cx="233172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Connecter plusieurs agents entre eux (MCP, n8n, API)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99067" y="2011680"/>
            <a:ext cx="2697480" cy="1463040"/>
          </a:xfrm>
          <a:prstGeom prst="roundRect">
            <a:avLst>
              <a:gd name="adj" fmla="val 10000"/>
            </a:avLst>
          </a:prstGeom>
          <a:solidFill>
            <a:srgbClr val="0B1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227667" y="2240280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6E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27667" y="2258568"/>
            <a:ext cx="41148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76307" y="2240280"/>
            <a:ext cx="17830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9E82FF"/>
                </a:solidFill>
                <a:latin typeface="Calibri"/>
              </a:rPr>
              <a:t>DOCUMENT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27667" y="2788920"/>
            <a:ext cx="233172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Documenter automatiquement chaque agent et flux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912467" y="3657600"/>
            <a:ext cx="2697480" cy="1463040"/>
          </a:xfrm>
          <a:prstGeom prst="roundRect">
            <a:avLst>
              <a:gd name="adj" fmla="val 10000"/>
            </a:avLst>
          </a:prstGeom>
          <a:solidFill>
            <a:srgbClr val="0B1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2141067" y="3886200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6E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141067" y="3904488"/>
            <a:ext cx="41148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89707" y="3886200"/>
            <a:ext cx="17830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9E82FF"/>
                </a:solidFill>
                <a:latin typeface="Calibri"/>
              </a:rPr>
              <a:t>MONITOR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41067" y="4434840"/>
            <a:ext cx="233172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Superviser actions, erreurs, coûts en temps réel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47107" y="3657600"/>
            <a:ext cx="2697480" cy="1463040"/>
          </a:xfrm>
          <a:prstGeom prst="roundRect">
            <a:avLst>
              <a:gd name="adj" fmla="val 10000"/>
            </a:avLst>
          </a:prstGeom>
          <a:solidFill>
            <a:srgbClr val="0B1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4975707" y="3886200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6E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975707" y="3904488"/>
            <a:ext cx="41148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24347" y="3886200"/>
            <a:ext cx="17830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9E82FF"/>
                </a:solidFill>
                <a:latin typeface="Calibri"/>
              </a:rPr>
              <a:t>GOVERN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75707" y="4434840"/>
            <a:ext cx="233172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Garder le contrôle humain sur les actions sensibles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581747" y="3657600"/>
            <a:ext cx="2697480" cy="1463040"/>
          </a:xfrm>
          <a:prstGeom prst="roundRect">
            <a:avLst>
              <a:gd name="adj" fmla="val 10000"/>
            </a:avLst>
          </a:prstGeom>
          <a:solidFill>
            <a:srgbClr val="0B1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7810347" y="3886200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6E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810347" y="3904488"/>
            <a:ext cx="41148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58987" y="3886200"/>
            <a:ext cx="17830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9E82FF"/>
                </a:solidFill>
                <a:latin typeface="Calibri"/>
              </a:rPr>
              <a:t>REUSE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10347" y="4434840"/>
            <a:ext cx="233172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Réutiliser et adapter — pas réinventer à chaque projet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5532120"/>
            <a:ext cx="10698480" cy="914400"/>
          </a:xfrm>
          <a:prstGeom prst="roundRect">
            <a:avLst>
              <a:gd name="adj" fmla="val 10000"/>
            </a:avLst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14400" y="5623560"/>
            <a:ext cx="1033272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0B1438"/>
                </a:solidFill>
                <a:latin typeface="Calibri"/>
              </a:rPr>
              <a:t>Des agents IA dispersés → des systèmes professionnels, gouvernés et mesurables.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5989320"/>
            <a:ext cx="1033272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6B7280"/>
                </a:solidFill>
                <a:latin typeface="Calibri"/>
              </a:rPr>
              <a:t>Pas un nouveau framework. Pas un n-ième annuaire. La couche manquante entre les outils.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6E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2194560" cy="34747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dirty="0">
                <a:solidFill>
                  <a:srgbClr val="FFFFFF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972800" cy="50334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 dirty="0">
                <a:solidFill>
                  <a:srgbClr val="FFFFFF"/>
                </a:solidFill>
                <a:latin typeface="Calibri"/>
              </a:rPr>
              <a:t>Comment </a:t>
            </a:r>
            <a:r>
              <a:rPr sz="2800" b="1" i="0" dirty="0" err="1">
                <a:solidFill>
                  <a:srgbClr val="FFFFFF"/>
                </a:solidFill>
                <a:latin typeface="Calibri"/>
              </a:rPr>
              <a:t>ça</a:t>
            </a:r>
            <a:r>
              <a:rPr sz="28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lang="fr-FR" sz="2800" b="1" i="0" dirty="0">
                <a:solidFill>
                  <a:srgbClr val="FFFFFF"/>
                </a:solidFill>
                <a:latin typeface="Calibri"/>
              </a:rPr>
              <a:t>se met en place</a:t>
            </a:r>
            <a:endParaRPr sz="28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9E82FF"/>
                </a:solidFill>
                <a:latin typeface="Calibri"/>
              </a:rPr>
              <a:t>1.  Sources &amp; connecteurs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3435" y="2103120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141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13435" y="2103120"/>
            <a:ext cx="11430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GitHub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66163" y="2103120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141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66163" y="2103120"/>
            <a:ext cx="11430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MCP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8891" y="2103120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141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18891" y="2103120"/>
            <a:ext cx="11430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n8n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1619" y="2103120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141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71619" y="2103120"/>
            <a:ext cx="11430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Make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24347" y="2103120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141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524347" y="2103120"/>
            <a:ext cx="11430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Zapier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77075" y="2103120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141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77075" y="2103120"/>
            <a:ext cx="11430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Claude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29803" y="2103120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141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29803" y="2103120"/>
            <a:ext cx="11430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OpenAI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82531" y="2103120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141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82531" y="2103120"/>
            <a:ext cx="11430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LangChain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535259" y="2103120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141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535259" y="2103120"/>
            <a:ext cx="11430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CrewAI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0" y="2606040"/>
            <a:ext cx="12191695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6E4BFF"/>
                </a:solidFill>
                <a:latin typeface="Calibri"/>
              </a:rPr>
              <a:t>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2926080"/>
            <a:ext cx="10725912" cy="2240280"/>
          </a:xfrm>
          <a:prstGeom prst="roundRect">
            <a:avLst>
              <a:gd name="adj" fmla="val 6000"/>
            </a:avLst>
          </a:prstGeom>
          <a:solidFill>
            <a:srgbClr val="1F2A6B"/>
          </a:solidFill>
          <a:ln w="19050">
            <a:solidFill>
              <a:srgbClr val="6E4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3017520"/>
            <a:ext cx="105156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9E82FF"/>
                </a:solidFill>
                <a:latin typeface="Calibri"/>
              </a:rPr>
              <a:t>2.  Orkestra IA  —  core platform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7191" y="3474720"/>
            <a:ext cx="1673352" cy="1554480"/>
          </a:xfrm>
          <a:prstGeom prst="roundRect">
            <a:avLst>
              <a:gd name="adj" fmla="val 10000"/>
            </a:avLst>
          </a:prstGeom>
          <a:solidFill>
            <a:srgbClr val="0B1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47191" y="3474720"/>
            <a:ext cx="1673352" cy="64008"/>
          </a:xfrm>
          <a:prstGeom prst="rect">
            <a:avLst/>
          </a:prstGeom>
          <a:solidFill>
            <a:srgbClr val="6E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38631" y="3749040"/>
            <a:ext cx="1490472" cy="7315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Discovery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8631" y="4480560"/>
            <a:ext cx="1490472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1">
                <a:solidFill>
                  <a:srgbClr val="9E82FF"/>
                </a:solidFill>
                <a:latin typeface="Calibri"/>
              </a:rPr>
              <a:t>catalog qualifié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611983" y="3474720"/>
            <a:ext cx="1673352" cy="1554480"/>
          </a:xfrm>
          <a:prstGeom prst="roundRect">
            <a:avLst>
              <a:gd name="adj" fmla="val 10000"/>
            </a:avLst>
          </a:prstGeom>
          <a:solidFill>
            <a:srgbClr val="0B1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2611983" y="3474720"/>
            <a:ext cx="1673352" cy="64008"/>
          </a:xfrm>
          <a:prstGeom prst="rect">
            <a:avLst/>
          </a:prstGeom>
          <a:solidFill>
            <a:srgbClr val="6E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703423" y="3749040"/>
            <a:ext cx="1490472" cy="7315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Risk · Cost · Permissions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03423" y="4480560"/>
            <a:ext cx="1490472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1">
                <a:solidFill>
                  <a:srgbClr val="9E82FF"/>
                </a:solidFill>
                <a:latin typeface="Calibri"/>
              </a:rPr>
              <a:t>scoring auto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76775" y="3474720"/>
            <a:ext cx="1673352" cy="1554480"/>
          </a:xfrm>
          <a:prstGeom prst="roundRect">
            <a:avLst>
              <a:gd name="adj" fmla="val 10000"/>
            </a:avLst>
          </a:prstGeom>
          <a:solidFill>
            <a:srgbClr val="0B1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376775" y="3474720"/>
            <a:ext cx="1673352" cy="64008"/>
          </a:xfrm>
          <a:prstGeom prst="rect">
            <a:avLst/>
          </a:prstGeom>
          <a:solidFill>
            <a:srgbClr val="6E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468215" y="3749040"/>
            <a:ext cx="1490472" cy="7315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Orchestration multi-agents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68215" y="4480560"/>
            <a:ext cx="1490472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1">
                <a:solidFill>
                  <a:srgbClr val="9E82FF"/>
                </a:solidFill>
                <a:latin typeface="Calibri"/>
              </a:rPr>
              <a:t>MCP-compatible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41567" y="3474720"/>
            <a:ext cx="1673352" cy="1554480"/>
          </a:xfrm>
          <a:prstGeom prst="roundRect">
            <a:avLst>
              <a:gd name="adj" fmla="val 10000"/>
            </a:avLst>
          </a:prstGeom>
          <a:solidFill>
            <a:srgbClr val="0B1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141567" y="3474720"/>
            <a:ext cx="1673352" cy="64008"/>
          </a:xfrm>
          <a:prstGeom prst="rect">
            <a:avLst/>
          </a:prstGeom>
          <a:solidFill>
            <a:srgbClr val="6E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233007" y="3749040"/>
            <a:ext cx="1490472" cy="7315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Documentation auto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33007" y="4480560"/>
            <a:ext cx="1490472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1">
                <a:solidFill>
                  <a:srgbClr val="9E82FF"/>
                </a:solidFill>
                <a:latin typeface="Calibri"/>
              </a:rPr>
              <a:t>human-readable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906359" y="3474720"/>
            <a:ext cx="1673352" cy="1554480"/>
          </a:xfrm>
          <a:prstGeom prst="roundRect">
            <a:avLst>
              <a:gd name="adj" fmla="val 10000"/>
            </a:avLst>
          </a:prstGeom>
          <a:solidFill>
            <a:srgbClr val="0B1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7906359" y="3474720"/>
            <a:ext cx="1673352" cy="64008"/>
          </a:xfrm>
          <a:prstGeom prst="rect">
            <a:avLst/>
          </a:prstGeom>
          <a:solidFill>
            <a:srgbClr val="6E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997799" y="3749040"/>
            <a:ext cx="1490472" cy="7315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Monitoring &amp; ROI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97799" y="4480560"/>
            <a:ext cx="1490472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1">
                <a:solidFill>
                  <a:srgbClr val="9E82FF"/>
                </a:solidFill>
                <a:latin typeface="Calibri"/>
              </a:rPr>
              <a:t>métriques live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671151" y="3474720"/>
            <a:ext cx="1673352" cy="1554480"/>
          </a:xfrm>
          <a:prstGeom prst="roundRect">
            <a:avLst>
              <a:gd name="adj" fmla="val 10000"/>
            </a:avLst>
          </a:prstGeom>
          <a:solidFill>
            <a:srgbClr val="0B1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9671151" y="3474720"/>
            <a:ext cx="1673352" cy="64008"/>
          </a:xfrm>
          <a:prstGeom prst="rect">
            <a:avLst/>
          </a:prstGeom>
          <a:solidFill>
            <a:srgbClr val="6E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762591" y="3749040"/>
            <a:ext cx="1490472" cy="7315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Gouvernance HITL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62591" y="4480560"/>
            <a:ext cx="1490472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1">
                <a:solidFill>
                  <a:srgbClr val="9E82FF"/>
                </a:solidFill>
                <a:latin typeface="Calibri"/>
              </a:rPr>
              <a:t>human-in-the-loop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0" y="5257800"/>
            <a:ext cx="12191695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6E4BFF"/>
                </a:solidFill>
                <a:latin typeface="Calibri"/>
              </a:rPr>
              <a:t>▼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" y="562356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9E82FF"/>
                </a:solidFill>
                <a:latin typeface="Calibri"/>
              </a:rPr>
              <a:t>3.  Sorties pour les utilisateurs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92327" y="6035040"/>
            <a:ext cx="2011680" cy="50292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92327" y="6035040"/>
            <a:ext cx="201168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Agents supervisés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941167" y="6035040"/>
            <a:ext cx="2011680" cy="50292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941167" y="6035040"/>
            <a:ext cx="201168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Documentation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090007" y="6035040"/>
            <a:ext cx="2011680" cy="50292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090007" y="6035040"/>
            <a:ext cx="201168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Tableau de bord ROI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238847" y="6035040"/>
            <a:ext cx="2011680" cy="50292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238847" y="6035040"/>
            <a:ext cx="201168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Alertes &amp; risques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387687" y="6035040"/>
            <a:ext cx="2011680" cy="50292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9387687" y="6035040"/>
            <a:ext cx="201168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Recommandations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6E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463040" cy="34747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MARCHÉ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B1438"/>
                </a:solidFill>
                <a:latin typeface="Calibri"/>
              </a:rPr>
              <a:t>Un marché qui passe de 7,8 Md$ à 52,6 Md$ en 5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B7280"/>
                </a:solidFill>
                <a:latin typeface="Calibri"/>
              </a:rPr>
              <a:t>CAGR ~46% sur les AI agents — MarketsandMarkets &amp; Grand View Research, 2025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57400"/>
            <a:ext cx="10725912" cy="868680"/>
          </a:xfrm>
          <a:prstGeom prst="roundRect">
            <a:avLst>
              <a:gd name="adj" fmla="val 8000"/>
            </a:avLst>
          </a:prstGeom>
          <a:solidFill>
            <a:srgbClr val="6E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112264"/>
            <a:ext cx="10177272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MTA  ·  Marché total addressable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41448"/>
            <a:ext cx="10177272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FFFFFF"/>
                </a:solidFill>
                <a:latin typeface="Calibri"/>
              </a:rPr>
              <a:t>Agents IA + workflows automatisés — monde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58180" y="2148840"/>
            <a:ext cx="5088636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7,8 Md$ en 2025 → 52,6 Md$ en 2030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58180" y="2496312"/>
            <a:ext cx="5088636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1">
                <a:solidFill>
                  <a:srgbClr val="FFFFFF"/>
                </a:solidFill>
                <a:latin typeface="Calibri"/>
              </a:rPr>
              <a:t>CAGR +46%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20" y="3063240"/>
            <a:ext cx="9811512" cy="868680"/>
          </a:xfrm>
          <a:prstGeom prst="roundRect">
            <a:avLst>
              <a:gd name="adj" fmla="val 8000"/>
            </a:avLst>
          </a:prstGeom>
          <a:solidFill>
            <a:srgbClr val="9E8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63040" y="3118104"/>
            <a:ext cx="9262872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MAS  ·  Marché Accessible Servable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447288"/>
            <a:ext cx="9262872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FFFFFF"/>
                </a:solidFill>
                <a:latin typeface="Calibri"/>
              </a:rPr>
              <a:t>Utilisateurs pros automation &amp; agents IA — monde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03900" y="3154680"/>
            <a:ext cx="4631436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3 à 10 M équipes / utilisateurs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03900" y="3502152"/>
            <a:ext cx="4631436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1">
                <a:solidFill>
                  <a:srgbClr val="FFFFFF"/>
                </a:solidFill>
                <a:latin typeface="Calibri"/>
              </a:rPr>
              <a:t>freelances · agences · PME digitales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645920" y="4069080"/>
            <a:ext cx="8897112" cy="868680"/>
          </a:xfrm>
          <a:prstGeom prst="roundRect">
            <a:avLst>
              <a:gd name="adj" fmla="val 8000"/>
            </a:avLst>
          </a:prstGeom>
          <a:solidFill>
            <a:srgbClr val="1F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920240" y="4123944"/>
            <a:ext cx="8348472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MARS  ·  Marché Atteignable Rentable Servable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4453128"/>
            <a:ext cx="8348472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FFFFFF"/>
                </a:solidFill>
                <a:latin typeface="Calibri"/>
              </a:rPr>
              <a:t>France + Europe — au lancement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49620" y="4160520"/>
            <a:ext cx="4174236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10 000 à 50 000 prospects qualifiés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49620" y="4507992"/>
            <a:ext cx="4174236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1">
                <a:solidFill>
                  <a:srgbClr val="FFFFFF"/>
                </a:solidFill>
                <a:latin typeface="Calibri"/>
              </a:rPr>
              <a:t>agences IA · freelances no-code · consultants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103120" y="5074920"/>
            <a:ext cx="7982712" cy="86868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377440" y="5129784"/>
            <a:ext cx="7434072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PAP  ·  Premiers Adopteurs Prioritaires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5458968"/>
            <a:ext cx="7434072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FFFFFF"/>
                </a:solidFill>
                <a:latin typeface="Calibri"/>
              </a:rPr>
              <a:t>Cible de validation initiale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95340" y="5166360"/>
            <a:ext cx="3717036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100 à 500 prospects à contacter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95340" y="5513832"/>
            <a:ext cx="3717036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1">
                <a:solidFill>
                  <a:srgbClr val="FFFFFF"/>
                </a:solidFill>
                <a:latin typeface="Calibri"/>
              </a:rPr>
              <a:t>freelances n8n/Make · builders IA · consultants MCP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400800"/>
            <a:ext cx="10972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</a:rPr>
              <a:t>Sources : MarketsandMarkets (AI Agents Market 2025-2030)  ·  Grand View Research  ·  voir slide finale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6E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828800" cy="34747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CIBLE CLIENT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B1438"/>
                </a:solidFill>
                <a:latin typeface="Calibri"/>
              </a:rPr>
              <a:t>Persona — Nicolas, consultant IA &amp; automation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3200400" cy="4572000"/>
          </a:xfrm>
          <a:prstGeom prst="roundRect">
            <a:avLst>
              <a:gd name="adj" fmla="val 10000"/>
            </a:avLst>
          </a:prstGeom>
          <a:solidFill>
            <a:srgbClr val="0B1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463040" y="2103120"/>
            <a:ext cx="1737360" cy="1737360"/>
          </a:xfrm>
          <a:prstGeom prst="roundRect">
            <a:avLst>
              <a:gd name="adj" fmla="val 50000"/>
            </a:avLst>
          </a:prstGeom>
          <a:solidFill>
            <a:srgbClr val="6E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63040" y="2103120"/>
            <a:ext cx="1737360" cy="17373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0" b="1" i="0">
                <a:solidFill>
                  <a:srgbClr val="FFFFFF"/>
                </a:solidFill>
                <a:latin typeface="Calibri"/>
              </a:rPr>
              <a:t>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023360"/>
            <a:ext cx="28346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Nicolas, 28 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480560"/>
            <a:ext cx="28346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9E82FF"/>
                </a:solidFill>
                <a:latin typeface="Calibri"/>
              </a:rPr>
              <a:t>Consultant IA / automation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029200"/>
            <a:ext cx="2834640" cy="11887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Aide les PME à intégrer des agents IA : prospection, support client, reporting, CRM, analyse documentaire.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783080"/>
            <a:ext cx="2468880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06240" y="1783080"/>
            <a:ext cx="2468880" cy="457200"/>
          </a:xfrm>
          <a:prstGeom prst="rect">
            <a:avLst/>
          </a:prstGeom>
          <a:solidFill>
            <a:srgbClr val="6E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89120" y="1847088"/>
            <a:ext cx="21031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Ses tâches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286000"/>
            <a:ext cx="21031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280"/>
                </a:solidFill>
                <a:latin typeface="Calibri"/>
              </a:rPr>
              <a:t>Que fait-il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280720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6E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63440" y="2697480"/>
            <a:ext cx="182880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2A2E3A"/>
                </a:solidFill>
                <a:latin typeface="Calibri"/>
              </a:rPr>
              <a:t>Trouver les bons agents IA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349300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6E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63440" y="3383280"/>
            <a:ext cx="182880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2A2E3A"/>
                </a:solidFill>
                <a:latin typeface="Calibri"/>
              </a:rPr>
              <a:t>Les connecter aux outils du client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417880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6E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63440" y="4069080"/>
            <a:ext cx="182880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2A2E3A"/>
                </a:solidFill>
                <a:latin typeface="Calibri"/>
              </a:rPr>
              <a:t>Les superviser au quotidien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486460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6E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63440" y="4754880"/>
            <a:ext cx="182880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2A2E3A"/>
                </a:solidFill>
                <a:latin typeface="Calibri"/>
              </a:rPr>
              <a:t>Prouver le ROI au client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555040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6E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63440" y="5440680"/>
            <a:ext cx="182880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2A2E3A"/>
                </a:solidFill>
                <a:latin typeface="Calibri"/>
              </a:rPr>
              <a:t>Rassurer sur la sécurité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0" y="1783080"/>
            <a:ext cx="2468880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858000" y="1783080"/>
            <a:ext cx="2468880" cy="4572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040880" y="1847088"/>
            <a:ext cx="21031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Ses douleurs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2286000"/>
            <a:ext cx="21031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280"/>
                </a:solidFill>
                <a:latin typeface="Calibri"/>
              </a:rPr>
              <a:t>Pourquoi ça coince 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40880" y="280720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15200" y="2697480"/>
            <a:ext cx="182880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2A2E3A"/>
                </a:solidFill>
                <a:latin typeface="Calibri"/>
              </a:rPr>
              <a:t>Outils dispersés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040880" y="349300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15200" y="3383280"/>
            <a:ext cx="182880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2A2E3A"/>
                </a:solidFill>
                <a:latin typeface="Calibri"/>
              </a:rPr>
              <a:t>Agents difficiles à contrôler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040880" y="417880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315200" y="4069080"/>
            <a:ext cx="182880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2A2E3A"/>
                </a:solidFill>
                <a:latin typeface="Calibri"/>
              </a:rPr>
              <a:t>Documentation faible / manuelle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040880" y="486460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315200" y="4754880"/>
            <a:ext cx="182880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2A2E3A"/>
                </a:solidFill>
                <a:latin typeface="Calibri"/>
              </a:rPr>
              <a:t>Risques RGPD / fuite de données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040880" y="555040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315200" y="5440680"/>
            <a:ext cx="182880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2A2E3A"/>
                </a:solidFill>
                <a:latin typeface="Calibri"/>
              </a:rPr>
              <a:t>Coûts API imprévus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509760" y="1783080"/>
            <a:ext cx="2468880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9509760" y="1783080"/>
            <a:ext cx="24688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692640" y="1847088"/>
            <a:ext cx="21031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Ses bénéfices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92640" y="2286000"/>
            <a:ext cx="2103120" cy="20351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 dirty="0">
                <a:solidFill>
                  <a:srgbClr val="6B7280"/>
                </a:solidFill>
                <a:latin typeface="Calibri"/>
              </a:rPr>
              <a:t>Ce </a:t>
            </a:r>
            <a:r>
              <a:rPr sz="1000" b="0" i="1" dirty="0" err="1">
                <a:solidFill>
                  <a:srgbClr val="6B7280"/>
                </a:solidFill>
                <a:latin typeface="Calibri"/>
              </a:rPr>
              <a:t>qu'il</a:t>
            </a:r>
            <a:r>
              <a:rPr sz="1000" b="0" i="1" dirty="0">
                <a:solidFill>
                  <a:srgbClr val="6B7280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rgbClr val="6B7280"/>
                </a:solidFill>
                <a:latin typeface="Calibri"/>
              </a:rPr>
              <a:t>gagne</a:t>
            </a:r>
            <a:r>
              <a:rPr sz="1000" b="0" i="1" dirty="0">
                <a:solidFill>
                  <a:srgbClr val="6B7280"/>
                </a:solidFill>
                <a:latin typeface="Calibri"/>
              </a:rPr>
              <a:t> avec </a:t>
            </a:r>
            <a:r>
              <a:rPr lang="fr-FR" sz="1000" i="1" dirty="0">
                <a:solidFill>
                  <a:srgbClr val="6B7280"/>
                </a:solidFill>
                <a:latin typeface="Calibri"/>
              </a:rPr>
              <a:t>O</a:t>
            </a:r>
            <a:r>
              <a:rPr sz="1000" b="0" i="1" dirty="0">
                <a:solidFill>
                  <a:srgbClr val="6B7280"/>
                </a:solidFill>
                <a:latin typeface="Calibri"/>
              </a:rPr>
              <a:t>A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692640" y="280720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966960" y="2697480"/>
            <a:ext cx="182880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2A2E3A"/>
                </a:solidFill>
                <a:latin typeface="Calibri"/>
              </a:rPr>
              <a:t>Gagne du temps de livraison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692640" y="349300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966960" y="3383280"/>
            <a:ext cx="182880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2A2E3A"/>
                </a:solidFill>
                <a:latin typeface="Calibri"/>
              </a:rPr>
              <a:t>Livre plus pro / défendable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692640" y="417880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966960" y="4069080"/>
            <a:ext cx="182880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2A2E3A"/>
                </a:solidFill>
                <a:latin typeface="Calibri"/>
              </a:rPr>
              <a:t>Réduit le risque opérationnel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692640" y="486460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966960" y="4754880"/>
            <a:ext cx="182880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2A2E3A"/>
                </a:solidFill>
                <a:latin typeface="Calibri"/>
              </a:rPr>
              <a:t>Mieux vend ses prestations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692640" y="555040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966960" y="5440680"/>
            <a:ext cx="182880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2A2E3A"/>
                </a:solidFill>
                <a:latin typeface="Calibri"/>
              </a:rPr>
              <a:t>Mesure et prouve la valeur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560320" cy="347472"/>
          </a:xfrm>
          <a:prstGeom prst="roundRect">
            <a:avLst>
              <a:gd name="adj" fmla="val 50000"/>
            </a:avLst>
          </a:prstGeom>
          <a:solidFill>
            <a:srgbClr val="6E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2560320" cy="34747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PROPOSITION DE VALEUR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B1438"/>
                </a:solidFill>
                <a:latin typeface="Calibri"/>
              </a:rPr>
              <a:t>Passer des agents « démo » aux agents « production 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2287" y="1783080"/>
            <a:ext cx="3657600" cy="4480560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72287" y="1783080"/>
            <a:ext cx="3657600" cy="777240"/>
          </a:xfrm>
          <a:prstGeom prst="roundRect">
            <a:avLst>
              <a:gd name="adj" fmla="val 1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6607" y="1892808"/>
            <a:ext cx="31089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AVANT Orkestra 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6607" y="2240280"/>
            <a:ext cx="31089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FFFFFF"/>
                </a:solidFill>
                <a:latin typeface="Calibri"/>
              </a:rPr>
              <a:t>Le quotidien actuel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6607" y="2743200"/>
            <a:ext cx="182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EF4444"/>
                </a:solidFill>
                <a:latin typeface="Calibri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6647" y="2743200"/>
            <a:ext cx="288036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A2E3A"/>
                </a:solidFill>
                <a:latin typeface="Calibri"/>
              </a:rPr>
              <a:t>Agents dispersés sur 5+ outils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6607" y="3383280"/>
            <a:ext cx="182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EF4444"/>
                </a:solidFill>
                <a:latin typeface="Calibr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6647" y="3383280"/>
            <a:ext cx="288036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A2E3A"/>
                </a:solidFill>
                <a:latin typeface="Calibri"/>
              </a:rPr>
              <a:t>Coûts API flous / imprévisibles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6607" y="4023360"/>
            <a:ext cx="182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EF4444"/>
                </a:solidFill>
                <a:latin typeface="Calibri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6647" y="4023360"/>
            <a:ext cx="288036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A2E3A"/>
                </a:solidFill>
                <a:latin typeface="Calibri"/>
              </a:rPr>
              <a:t>Documentation manuelle ou inexistante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6607" y="4663440"/>
            <a:ext cx="182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EF4444"/>
                </a:solidFill>
                <a:latin typeface="Calibri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6647" y="4663440"/>
            <a:ext cx="288036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A2E3A"/>
                </a:solidFill>
                <a:latin typeface="Calibri"/>
              </a:rPr>
              <a:t>Risques invisibles (sécurité, RGPD)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6607" y="5303520"/>
            <a:ext cx="182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EF4444"/>
                </a:solidFill>
                <a:latin typeface="Calibri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6647" y="5303520"/>
            <a:ext cx="288036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A2E3A"/>
                </a:solidFill>
                <a:latin typeface="Calibri"/>
              </a:rPr>
              <a:t>Faible confiance des clients finaux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67047" y="1783080"/>
            <a:ext cx="3657600" cy="4480560"/>
          </a:xfrm>
          <a:prstGeom prst="roundRect">
            <a:avLst>
              <a:gd name="adj" fmla="val 10000"/>
            </a:avLst>
          </a:prstGeom>
          <a:solidFill>
            <a:srgbClr val="E9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267047" y="1783080"/>
            <a:ext cx="3657600" cy="777240"/>
          </a:xfrm>
          <a:prstGeom prst="roundRect">
            <a:avLst>
              <a:gd name="adj" fmla="val 10000"/>
            </a:avLst>
          </a:prstGeom>
          <a:solidFill>
            <a:srgbClr val="6E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41367" y="1892808"/>
            <a:ext cx="31089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AVEC Orkestra 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1367" y="2240280"/>
            <a:ext cx="31089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FFFFFF"/>
                </a:solidFill>
                <a:latin typeface="Calibri"/>
              </a:rPr>
              <a:t>La nouvelle norme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41367" y="2743200"/>
            <a:ext cx="182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6E4BFF"/>
                </a:solidFill>
                <a:latin typeface="Calibri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61407" y="2743200"/>
            <a:ext cx="288036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A2E3A"/>
                </a:solidFill>
                <a:latin typeface="Calibri"/>
              </a:rPr>
              <a:t>Catalog centralisé + comparatif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41367" y="3383280"/>
            <a:ext cx="182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6E4BFF"/>
                </a:solidFill>
                <a:latin typeface="Calibri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61407" y="3383280"/>
            <a:ext cx="288036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A2E3A"/>
                </a:solidFill>
                <a:latin typeface="Calibri"/>
              </a:rPr>
              <a:t>Scoring risque · coût · permissions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41367" y="4023360"/>
            <a:ext cx="182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6E4BFF"/>
                </a:solidFill>
                <a:latin typeface="Calibri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61407" y="4023360"/>
            <a:ext cx="288036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A2E3A"/>
                </a:solidFill>
                <a:latin typeface="Calibri"/>
              </a:rPr>
              <a:t>Documentation auto en 1 clic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41367" y="4663440"/>
            <a:ext cx="182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6E4BFF"/>
                </a:solidFill>
                <a:latin typeface="Calibri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61407" y="4663440"/>
            <a:ext cx="288036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A2E3A"/>
                </a:solidFill>
                <a:latin typeface="Calibri"/>
              </a:rPr>
              <a:t>Monitoring + alertes temps réel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41367" y="5303520"/>
            <a:ext cx="182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6E4BFF"/>
                </a:solidFill>
                <a:latin typeface="Calibri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61407" y="5303520"/>
            <a:ext cx="288036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A2E3A"/>
                </a:solidFill>
                <a:latin typeface="Calibri"/>
              </a:rPr>
              <a:t>Contrôle humain sur actions sensibles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61807" y="1783080"/>
            <a:ext cx="3657600" cy="4480560"/>
          </a:xfrm>
          <a:prstGeom prst="roundRect">
            <a:avLst>
              <a:gd name="adj" fmla="val 1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8061807" y="1783080"/>
            <a:ext cx="3657600" cy="77724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336127" y="1892808"/>
            <a:ext cx="31089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RÉSULTAT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36127" y="2240280"/>
            <a:ext cx="31089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FFFFFF"/>
                </a:solidFill>
                <a:latin typeface="Calibri"/>
              </a:rPr>
              <a:t>Pour le consultant et son client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36127" y="2743200"/>
            <a:ext cx="182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0B981"/>
                </a:solidFill>
                <a:latin typeface="Calibri"/>
              </a:rP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56167" y="2743200"/>
            <a:ext cx="288036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A2E3A"/>
                </a:solidFill>
                <a:latin typeface="Calibri"/>
              </a:rPr>
              <a:t>Agents fiables en production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36127" y="3383280"/>
            <a:ext cx="182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0B981"/>
                </a:solidFill>
                <a:latin typeface="Calibri"/>
              </a:rPr>
              <a:t>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56167" y="3383280"/>
            <a:ext cx="288036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A2E3A"/>
                </a:solidFill>
                <a:latin typeface="Calibri"/>
              </a:rPr>
              <a:t>Clients rassurés + factures défendues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36127" y="4023360"/>
            <a:ext cx="182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0B981"/>
                </a:solidFill>
                <a:latin typeface="Calibri"/>
              </a:rPr>
              <a:t>→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56167" y="4023360"/>
            <a:ext cx="288036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A2E3A"/>
                </a:solidFill>
                <a:latin typeface="Calibri"/>
              </a:rPr>
              <a:t>ROI mesurable et présentable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36127" y="4663440"/>
            <a:ext cx="182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0B981"/>
                </a:solidFill>
                <a:latin typeface="Calibri"/>
              </a:rPr>
              <a:t>→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56167" y="4663440"/>
            <a:ext cx="288036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A2E3A"/>
                </a:solidFill>
                <a:latin typeface="Calibri"/>
              </a:rPr>
              <a:t>Livraison plus rapide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36127" y="5303520"/>
            <a:ext cx="182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0B981"/>
                </a:solidFill>
                <a:latin typeface="Calibri"/>
              </a:rPr>
              <a:t>→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56167" y="5303520"/>
            <a:ext cx="288036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A2E3A"/>
                </a:solidFill>
                <a:latin typeface="Calibri"/>
              </a:rPr>
              <a:t>Gouvernance IA réelle, pas marketing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640080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1">
                <a:solidFill>
                  <a:srgbClr val="0B1438"/>
                </a:solidFill>
                <a:latin typeface="Calibri"/>
              </a:rPr>
              <a:t>Une plateforme. Un dashboard. Trois personnes rassurées : le consultant, le client, le DSI.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645920" cy="347472"/>
          </a:xfrm>
          <a:prstGeom prst="roundRect">
            <a:avLst>
              <a:gd name="adj" fmla="val 50000"/>
            </a:avLst>
          </a:prstGeom>
          <a:solidFill>
            <a:srgbClr val="6E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645920" cy="34747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CONCURRENCE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0B1438"/>
                </a:solidFill>
                <a:latin typeface="Calibri"/>
              </a:rPr>
              <a:t>Orkestra IA ne remplace personne. Il connecte tout le monde.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64240" cy="640080"/>
          </a:xfrm>
          <a:prstGeom prst="roundRect">
            <a:avLst>
              <a:gd name="adj" fmla="val 6000"/>
            </a:avLst>
          </a:prstGeom>
          <a:solidFill>
            <a:srgbClr val="0B1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237744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Critère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947672"/>
            <a:ext cx="1214845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LangChain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3805" y="1947672"/>
            <a:ext cx="1214845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CrewAI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38651" y="1947672"/>
            <a:ext cx="1214845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Zapier Agents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53497" y="1947672"/>
            <a:ext cx="1214845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n8n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68342" y="1947672"/>
            <a:ext cx="1214845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Workato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83188" y="1947672"/>
            <a:ext cx="1214845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Agentforce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43754" y="1847088"/>
            <a:ext cx="1123405" cy="512064"/>
          </a:xfrm>
          <a:prstGeom prst="rect">
            <a:avLst/>
          </a:prstGeom>
          <a:solidFill>
            <a:srgbClr val="6E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398034" y="1947672"/>
            <a:ext cx="1214845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Orkestra IA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423160"/>
            <a:ext cx="11064240" cy="420624"/>
          </a:xfrm>
          <a:prstGeom prst="rect">
            <a:avLst/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2468880"/>
            <a:ext cx="237744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2A2E3A"/>
                </a:solidFill>
                <a:latin typeface="Calibri"/>
              </a:rPr>
              <a:t>Création d'agents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2468880"/>
            <a:ext cx="1214845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6E4BFF"/>
                </a:solidFill>
                <a:latin typeface="Calibri"/>
              </a:rPr>
              <a:t>●●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3805" y="2468880"/>
            <a:ext cx="1214845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6E4BFF"/>
                </a:solidFill>
                <a:latin typeface="Calibri"/>
              </a:rPr>
              <a:t>●●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38651" y="2468880"/>
            <a:ext cx="1214845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B1438"/>
                </a:solidFill>
                <a:latin typeface="Calibri"/>
              </a:rPr>
              <a:t>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53497" y="2468880"/>
            <a:ext cx="1214845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B1438"/>
                </a:solidFill>
                <a:latin typeface="Calibri"/>
              </a:rPr>
              <a:t>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68342" y="2468880"/>
            <a:ext cx="1214845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B1438"/>
                </a:solidFill>
                <a:latin typeface="Calibri"/>
              </a:rPr>
              <a:t>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3188" y="2468880"/>
            <a:ext cx="1214845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6E4BFF"/>
                </a:solidFill>
                <a:latin typeface="Calibri"/>
              </a:rPr>
              <a:t>●●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443754" y="2468880"/>
            <a:ext cx="1123405" cy="329184"/>
          </a:xfrm>
          <a:prstGeom prst="rect">
            <a:avLst/>
          </a:prstGeom>
          <a:solidFill>
            <a:srgbClr val="E9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398034" y="2468880"/>
            <a:ext cx="1214845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6B7280"/>
                </a:solidFill>
                <a:latin typeface="Calibri"/>
              </a:rP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2843784"/>
            <a:ext cx="1106424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20" y="2889504"/>
            <a:ext cx="237744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2A2E3A"/>
                </a:solidFill>
                <a:latin typeface="Calibri"/>
              </a:rPr>
              <a:t>Automation workflows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2889504"/>
            <a:ext cx="1214845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6B7280"/>
                </a:solidFill>
                <a:latin typeface="Calibri"/>
              </a:rP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23805" y="2889504"/>
            <a:ext cx="1214845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6B7280"/>
                </a:solidFill>
                <a:latin typeface="Calibri"/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38651" y="2889504"/>
            <a:ext cx="1214845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6E4BFF"/>
                </a:solidFill>
                <a:latin typeface="Calibri"/>
              </a:rPr>
              <a:t>●●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53497" y="2889504"/>
            <a:ext cx="1214845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6E4BFF"/>
                </a:solidFill>
                <a:latin typeface="Calibri"/>
              </a:rPr>
              <a:t>●●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68342" y="2889504"/>
            <a:ext cx="1214845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6E4BFF"/>
                </a:solidFill>
                <a:latin typeface="Calibri"/>
              </a:rPr>
              <a:t>●●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3188" y="2889504"/>
            <a:ext cx="1214845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B1438"/>
                </a:solidFill>
                <a:latin typeface="Calibri"/>
              </a:rPr>
              <a:t>●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443754" y="2889504"/>
            <a:ext cx="1123405" cy="329184"/>
          </a:xfrm>
          <a:prstGeom prst="rect">
            <a:avLst/>
          </a:prstGeom>
          <a:solidFill>
            <a:srgbClr val="E9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398034" y="2889504"/>
            <a:ext cx="1214845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6B7280"/>
                </a:solidFill>
                <a:latin typeface="Calibri"/>
              </a:rPr>
              <a:t>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3264408"/>
            <a:ext cx="11064240" cy="420624"/>
          </a:xfrm>
          <a:prstGeom prst="rect">
            <a:avLst/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31520" y="3310128"/>
            <a:ext cx="237744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2A2E3A"/>
                </a:solidFill>
                <a:latin typeface="Calibri"/>
              </a:rPr>
              <a:t>Orchestration multi-agents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08960" y="3310128"/>
            <a:ext cx="1214845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B1438"/>
                </a:solidFill>
                <a:latin typeface="Calibri"/>
              </a:rPr>
              <a:t>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23805" y="3310128"/>
            <a:ext cx="1214845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6E4BFF"/>
                </a:solidFill>
                <a:latin typeface="Calibri"/>
              </a:rPr>
              <a:t>●●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38651" y="3310128"/>
            <a:ext cx="1214845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6B7280"/>
                </a:solidFill>
                <a:latin typeface="Calibri"/>
              </a:rPr>
              <a:t>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53497" y="3310128"/>
            <a:ext cx="1214845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B1438"/>
                </a:solidFill>
                <a:latin typeface="Calibri"/>
              </a:rPr>
              <a:t>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68342" y="3310128"/>
            <a:ext cx="1214845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6B7280"/>
                </a:solidFill>
                <a:latin typeface="Calibri"/>
              </a:rP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83188" y="3310128"/>
            <a:ext cx="1214845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B1438"/>
                </a:solidFill>
                <a:latin typeface="Calibri"/>
              </a:rPr>
              <a:t>●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443754" y="3310128"/>
            <a:ext cx="1123405" cy="329184"/>
          </a:xfrm>
          <a:prstGeom prst="rect">
            <a:avLst/>
          </a:prstGeom>
          <a:solidFill>
            <a:srgbClr val="E9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398034" y="3310128"/>
            <a:ext cx="1214845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6E4BFF"/>
                </a:solidFill>
                <a:latin typeface="Calibri"/>
              </a:rPr>
              <a:t>●●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3685032"/>
            <a:ext cx="1106424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31520" y="3730752"/>
            <a:ext cx="237744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2A2E3A"/>
                </a:solidFill>
                <a:latin typeface="Calibri"/>
              </a:rPr>
              <a:t>Gouvernance / HITL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108960" y="3730752"/>
            <a:ext cx="1214845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6B7280"/>
                </a:solidFill>
                <a:latin typeface="Calibri"/>
              </a:rP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23805" y="3730752"/>
            <a:ext cx="1214845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6B7280"/>
                </a:solidFill>
                <a:latin typeface="Calibri"/>
              </a:rPr>
              <a:t>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538651" y="3730752"/>
            <a:ext cx="1214845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6B7280"/>
                </a:solidFill>
                <a:latin typeface="Calibri"/>
              </a:rPr>
              <a:t>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53497" y="3730752"/>
            <a:ext cx="1214845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6B7280"/>
                </a:solidFill>
                <a:latin typeface="Calibri"/>
              </a:rPr>
              <a:t>—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68342" y="3730752"/>
            <a:ext cx="1214845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B1438"/>
                </a:solidFill>
                <a:latin typeface="Calibri"/>
              </a:rPr>
              <a:t>●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83188" y="3730752"/>
            <a:ext cx="1214845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B1438"/>
                </a:solidFill>
                <a:latin typeface="Calibri"/>
              </a:rPr>
              <a:t>●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443754" y="3730752"/>
            <a:ext cx="1123405" cy="329184"/>
          </a:xfrm>
          <a:prstGeom prst="rect">
            <a:avLst/>
          </a:prstGeom>
          <a:solidFill>
            <a:srgbClr val="E9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0398034" y="3730752"/>
            <a:ext cx="1214845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6E4BFF"/>
                </a:solidFill>
                <a:latin typeface="Calibri"/>
              </a:rPr>
              <a:t>●●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8640" y="4105656"/>
            <a:ext cx="11064240" cy="420624"/>
          </a:xfrm>
          <a:prstGeom prst="rect">
            <a:avLst/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31520" y="4151376"/>
            <a:ext cx="237744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2A2E3A"/>
                </a:solidFill>
                <a:latin typeface="Calibri"/>
              </a:rPr>
              <a:t>Monitoring ROI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108960" y="4151376"/>
            <a:ext cx="1214845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6B7280"/>
                </a:solidFill>
                <a:latin typeface="Calibri"/>
              </a:rPr>
              <a:t>—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323805" y="4151376"/>
            <a:ext cx="1214845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6B7280"/>
                </a:solidFill>
                <a:latin typeface="Calibri"/>
              </a:rPr>
              <a:t>—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538651" y="4151376"/>
            <a:ext cx="1214845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6B7280"/>
                </a:solidFill>
                <a:latin typeface="Calibri"/>
              </a:rPr>
              <a:t>—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753497" y="4151376"/>
            <a:ext cx="1214845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6B7280"/>
                </a:solidFill>
                <a:latin typeface="Calibri"/>
              </a:rPr>
              <a:t>—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968342" y="4151376"/>
            <a:ext cx="1214845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B1438"/>
                </a:solidFill>
                <a:latin typeface="Calibri"/>
              </a:rPr>
              <a:t>●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83188" y="4151376"/>
            <a:ext cx="1214845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B1438"/>
                </a:solidFill>
                <a:latin typeface="Calibri"/>
              </a:rPr>
              <a:t>●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443754" y="4151376"/>
            <a:ext cx="1123405" cy="329184"/>
          </a:xfrm>
          <a:prstGeom prst="rect">
            <a:avLst/>
          </a:prstGeom>
          <a:solidFill>
            <a:srgbClr val="E9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0398034" y="4151376"/>
            <a:ext cx="1214845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6E4BFF"/>
                </a:solidFill>
                <a:latin typeface="Calibri"/>
              </a:rPr>
              <a:t>●●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48640" y="4526280"/>
            <a:ext cx="1106424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31520" y="4572000"/>
            <a:ext cx="237744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2A2E3A"/>
                </a:solidFill>
                <a:latin typeface="Calibri"/>
              </a:rPr>
              <a:t>Interopérabilité multi-outils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108960" y="4572000"/>
            <a:ext cx="1214845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B1438"/>
                </a:solidFill>
                <a:latin typeface="Calibri"/>
              </a:rPr>
              <a:t>●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323805" y="4572000"/>
            <a:ext cx="1214845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B1438"/>
                </a:solidFill>
                <a:latin typeface="Calibri"/>
              </a:rPr>
              <a:t>●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538651" y="4572000"/>
            <a:ext cx="1214845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B1438"/>
                </a:solidFill>
                <a:latin typeface="Calibri"/>
              </a:rPr>
              <a:t>●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753497" y="4572000"/>
            <a:ext cx="1214845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6E4BFF"/>
                </a:solidFill>
                <a:latin typeface="Calibri"/>
              </a:rPr>
              <a:t>●●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968342" y="4572000"/>
            <a:ext cx="1214845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6E4BFF"/>
                </a:solidFill>
                <a:latin typeface="Calibri"/>
              </a:rPr>
              <a:t>●●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183188" y="4572000"/>
            <a:ext cx="1214845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6B7280"/>
                </a:solidFill>
                <a:latin typeface="Calibri"/>
              </a:rPr>
              <a:t>—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443754" y="4572000"/>
            <a:ext cx="1123405" cy="329184"/>
          </a:xfrm>
          <a:prstGeom prst="rect">
            <a:avLst/>
          </a:prstGeom>
          <a:solidFill>
            <a:srgbClr val="E9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10398034" y="4572000"/>
            <a:ext cx="1214845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6E4BFF"/>
                </a:solidFill>
                <a:latin typeface="Calibri"/>
              </a:rPr>
              <a:t>●●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48640" y="4946904"/>
            <a:ext cx="11064240" cy="420624"/>
          </a:xfrm>
          <a:prstGeom prst="rect">
            <a:avLst/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731520" y="4992624"/>
            <a:ext cx="237744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2A2E3A"/>
                </a:solidFill>
                <a:latin typeface="Calibri"/>
              </a:rPr>
              <a:t>Accessibilité freelance / PME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108960" y="4992624"/>
            <a:ext cx="1214845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B1438"/>
                </a:solidFill>
                <a:latin typeface="Calibri"/>
              </a:rPr>
              <a:t>●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323805" y="4992624"/>
            <a:ext cx="1214845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B1438"/>
                </a:solidFill>
                <a:latin typeface="Calibri"/>
              </a:rPr>
              <a:t>●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538651" y="4992624"/>
            <a:ext cx="1214845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6E4BFF"/>
                </a:solidFill>
                <a:latin typeface="Calibri"/>
              </a:rPr>
              <a:t>●●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753497" y="4992624"/>
            <a:ext cx="1214845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6E4BFF"/>
                </a:solidFill>
                <a:latin typeface="Calibri"/>
              </a:rPr>
              <a:t>●●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968342" y="4992624"/>
            <a:ext cx="1214845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6B7280"/>
                </a:solidFill>
                <a:latin typeface="Calibri"/>
              </a:rPr>
              <a:t>—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183188" y="4992624"/>
            <a:ext cx="1214845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6B7280"/>
                </a:solidFill>
                <a:latin typeface="Calibri"/>
              </a:rPr>
              <a:t>—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0443754" y="4992624"/>
            <a:ext cx="1123405" cy="329184"/>
          </a:xfrm>
          <a:prstGeom prst="rect">
            <a:avLst/>
          </a:prstGeom>
          <a:solidFill>
            <a:srgbClr val="E9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10398034" y="4992624"/>
            <a:ext cx="1214845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6E4BFF"/>
                </a:solidFill>
                <a:latin typeface="Calibri"/>
              </a:rPr>
              <a:t>●●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48640" y="5458968"/>
            <a:ext cx="11064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</a:rPr>
              <a:t>●●  fort     ●  partiel     —  faible / absent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731520" y="5989320"/>
            <a:ext cx="10698480" cy="640080"/>
          </a:xfrm>
          <a:prstGeom prst="roundRect">
            <a:avLst>
              <a:gd name="adj" fmla="val 10000"/>
            </a:avLst>
          </a:prstGeom>
          <a:solidFill>
            <a:srgbClr val="0B1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914400" y="6035040"/>
            <a:ext cx="1033272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1">
                <a:solidFill>
                  <a:srgbClr val="FFFFFF"/>
                </a:solidFill>
                <a:latin typeface="Calibri"/>
              </a:rPr>
              <a:t>Les autres créent ou exécutent des agents. Orkestra IA les rend contrôlables, mesurables et interopérables.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6E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2194560" cy="34747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SaaS progressif  +  marketplace  +  pay-per-use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0867" y="1874519"/>
            <a:ext cx="2148840" cy="3108960"/>
          </a:xfrm>
          <a:prstGeom prst="roundRect">
            <a:avLst>
              <a:gd name="adj" fmla="val 8000"/>
            </a:avLst>
          </a:prstGeom>
          <a:solidFill>
            <a:srgbClr val="141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0867" y="2148839"/>
            <a:ext cx="21488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9E82FF"/>
                </a:solidFill>
                <a:latin typeface="Calibri"/>
              </a:rPr>
              <a:t>FREE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867" y="2514599"/>
            <a:ext cx="21488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0 €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867" y="2971799"/>
            <a:ext cx="21488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9E82FF"/>
                </a:solidFill>
                <a:latin typeface="Calibri"/>
              </a:rPr>
              <a:t>Découverte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8027" y="3383279"/>
            <a:ext cx="1874520" cy="44781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 i="0" dirty="0">
                <a:solidFill>
                  <a:srgbClr val="FFFFFF"/>
                </a:solidFill>
                <a:latin typeface="Calibri"/>
              </a:rPr>
              <a:t>Catalog </a:t>
            </a:r>
            <a:r>
              <a:rPr sz="1000" b="0" i="0" dirty="0" err="1">
                <a:solidFill>
                  <a:srgbClr val="FFFFFF"/>
                </a:solidFill>
                <a:latin typeface="Calibri"/>
              </a:rPr>
              <a:t>limité</a:t>
            </a:r>
            <a:endParaRPr sz="1000" b="0" i="0" dirty="0">
              <a:solidFill>
                <a:srgbClr val="FFFFFF"/>
              </a:solidFill>
              <a:latin typeface="Calibri"/>
            </a:endParaRPr>
          </a:p>
          <a:p>
            <a:pPr algn="ctr">
              <a:lnSpc>
                <a:spcPct val="140000"/>
              </a:lnSpc>
            </a:pPr>
            <a:r>
              <a:rPr sz="1000" b="0" i="0" dirty="0">
                <a:solidFill>
                  <a:srgbClr val="FFFFFF"/>
                </a:solidFill>
                <a:latin typeface="Calibri"/>
              </a:rPr>
              <a:t>+ 1 </a:t>
            </a:r>
            <a:r>
              <a:rPr sz="1000" b="0" i="0" dirty="0" err="1">
                <a:solidFill>
                  <a:srgbClr val="FFFFFF"/>
                </a:solidFill>
                <a:latin typeface="Calibri"/>
              </a:rPr>
              <a:t>analyse</a:t>
            </a:r>
            <a:r>
              <a:rPr sz="1000" b="0" i="0" dirty="0">
                <a:solidFill>
                  <a:srgbClr val="FFFFFF"/>
                </a:solidFill>
                <a:latin typeface="Calibri"/>
              </a:rPr>
              <a:t> / </a:t>
            </a:r>
            <a:r>
              <a:rPr lang="fr-FR" sz="1000" b="0" i="0" dirty="0">
                <a:solidFill>
                  <a:srgbClr val="FFFFFF"/>
                </a:solidFill>
                <a:latin typeface="Calibri"/>
              </a:rPr>
              <a:t>semaine</a:t>
            </a:r>
            <a:endParaRPr sz="1000" b="0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781147" y="1874519"/>
            <a:ext cx="2148840" cy="3108960"/>
          </a:xfrm>
          <a:prstGeom prst="roundRect">
            <a:avLst>
              <a:gd name="adj" fmla="val 8000"/>
            </a:avLst>
          </a:prstGeom>
          <a:solidFill>
            <a:srgbClr val="1F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81147" y="2148839"/>
            <a:ext cx="21488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9E82FF"/>
                </a:solidFill>
                <a:latin typeface="Calibri"/>
              </a:rPr>
              <a:t>STARTER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1147" y="2514599"/>
            <a:ext cx="21488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19-29 €/mo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1147" y="2971799"/>
            <a:ext cx="21488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9E82FF"/>
                </a:solidFill>
                <a:latin typeface="Calibri"/>
              </a:rPr>
              <a:t>Freelances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18307" y="3383279"/>
            <a:ext cx="1874520" cy="1463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lang="fr-FR" sz="1000" b="0" i="0" dirty="0">
                <a:solidFill>
                  <a:srgbClr val="FFFFFF"/>
                </a:solidFill>
                <a:latin typeface="Calibri"/>
              </a:rPr>
              <a:t>Analyse</a:t>
            </a:r>
            <a:r>
              <a:rPr sz="10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FFFFFF"/>
                </a:solidFill>
                <a:latin typeface="Calibri"/>
              </a:rPr>
              <a:t>illimitée</a:t>
            </a:r>
            <a:endParaRPr sz="1000" b="0" i="0" dirty="0">
              <a:solidFill>
                <a:srgbClr val="FFFFFF"/>
              </a:solidFill>
              <a:latin typeface="Calibri"/>
            </a:endParaRPr>
          </a:p>
          <a:p>
            <a:pPr algn="ctr">
              <a:lnSpc>
                <a:spcPct val="140000"/>
              </a:lnSpc>
            </a:pPr>
            <a:r>
              <a:rPr sz="1000" b="0" i="0" dirty="0">
                <a:solidFill>
                  <a:srgbClr val="FFFFFF"/>
                </a:solidFill>
                <a:latin typeface="Calibri"/>
              </a:rPr>
              <a:t>Doc auto</a:t>
            </a:r>
          </a:p>
          <a:p>
            <a:pPr algn="ctr">
              <a:lnSpc>
                <a:spcPct val="140000"/>
              </a:lnSpc>
            </a:pPr>
            <a:r>
              <a:rPr sz="1000" b="0" i="0" dirty="0">
                <a:solidFill>
                  <a:srgbClr val="FFFFFF"/>
                </a:solidFill>
                <a:latin typeface="Calibri"/>
              </a:rPr>
              <a:t>3 agents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1427" y="1874519"/>
            <a:ext cx="2148840" cy="3108960"/>
          </a:xfrm>
          <a:prstGeom prst="roundRect">
            <a:avLst>
              <a:gd name="adj" fmla="val 8000"/>
            </a:avLst>
          </a:prstGeom>
          <a:solidFill>
            <a:srgbClr val="6E4BFF"/>
          </a:solidFill>
          <a:ln w="25400">
            <a:solidFill>
              <a:srgbClr val="6E4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592927" y="1691639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592927" y="1691639"/>
            <a:ext cx="100584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POPULAR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1427" y="2148839"/>
            <a:ext cx="21488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PRO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1427" y="2514599"/>
            <a:ext cx="21488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79-99 €/mo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1427" y="2971799"/>
            <a:ext cx="21488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FFFFFF"/>
                </a:solidFill>
                <a:latin typeface="Calibri"/>
              </a:rPr>
              <a:t>Consultants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8587" y="3383279"/>
            <a:ext cx="1874520" cy="1463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Monitoring</a:t>
            </a:r>
          </a:p>
          <a:p>
            <a:pPr algn="ctr">
              <a:lnSpc>
                <a:spcPct val="140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ROI report</a:t>
            </a:r>
          </a:p>
          <a:p>
            <a:pPr algn="ctr">
              <a:lnSpc>
                <a:spcPct val="140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10 agents</a:t>
            </a:r>
          </a:p>
          <a:p>
            <a:pPr algn="ctr">
              <a:lnSpc>
                <a:spcPct val="140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MCP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61707" y="1874519"/>
            <a:ext cx="2148840" cy="3108960"/>
          </a:xfrm>
          <a:prstGeom prst="roundRect">
            <a:avLst>
              <a:gd name="adj" fmla="val 8000"/>
            </a:avLst>
          </a:prstGeom>
          <a:solidFill>
            <a:srgbClr val="1F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261707" y="2148839"/>
            <a:ext cx="21488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9E82FF"/>
                </a:solidFill>
                <a:latin typeface="Calibri"/>
              </a:rPr>
              <a:t>AGENCY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1707" y="2514599"/>
            <a:ext cx="21488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249-499 €/mo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1707" y="2971799"/>
            <a:ext cx="21488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9E82FF"/>
                </a:solidFill>
                <a:latin typeface="Calibri"/>
              </a:rPr>
              <a:t>Agences 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98867" y="3383279"/>
            <a:ext cx="1874520" cy="1463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Multi-clients</a:t>
            </a:r>
          </a:p>
          <a:p>
            <a:pPr algn="ctr">
              <a:lnSpc>
                <a:spcPct val="140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White-label</a:t>
            </a:r>
          </a:p>
          <a:p>
            <a:pPr algn="ctr">
              <a:lnSpc>
                <a:spcPct val="140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50 agents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01987" y="1874519"/>
            <a:ext cx="2148840" cy="3108960"/>
          </a:xfrm>
          <a:prstGeom prst="roundRect">
            <a:avLst>
              <a:gd name="adj" fmla="val 8000"/>
            </a:avLst>
          </a:prstGeom>
          <a:solidFill>
            <a:srgbClr val="141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501987" y="2148839"/>
            <a:ext cx="21488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9E82FF"/>
                </a:solidFill>
                <a:latin typeface="Calibri"/>
              </a:rPr>
              <a:t>ENTERPRISE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1987" y="2514599"/>
            <a:ext cx="21488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≥ 1 000 €/mo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1987" y="2971799"/>
            <a:ext cx="21488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9E82FF"/>
                </a:solidFill>
                <a:latin typeface="Calibri"/>
              </a:rPr>
              <a:t>Gouvernance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9147" y="3383279"/>
            <a:ext cx="1874520" cy="1463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Self-host</a:t>
            </a:r>
          </a:p>
          <a:p>
            <a:pPr algn="ctr">
              <a:lnSpc>
                <a:spcPct val="140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SSO</a:t>
            </a:r>
          </a:p>
          <a:p>
            <a:pPr algn="ctr">
              <a:lnSpc>
                <a:spcPct val="140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Support dédié</a:t>
            </a:r>
          </a:p>
          <a:p>
            <a:pPr algn="ctr">
              <a:lnSpc>
                <a:spcPct val="140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SLA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5212080"/>
            <a:ext cx="5486400" cy="1325880"/>
          </a:xfrm>
          <a:prstGeom prst="roundRect">
            <a:avLst>
              <a:gd name="adj" fmla="val 8000"/>
            </a:avLst>
          </a:prstGeom>
          <a:solidFill>
            <a:srgbClr val="141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4400" y="5303520"/>
            <a:ext cx="52120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9E82FF"/>
                </a:solidFill>
                <a:latin typeface="Calibri"/>
              </a:rPr>
              <a:t>Revenus complémentaires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623560"/>
            <a:ext cx="521208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·  API pay-per-use (orchestration, scoring)</a:t>
            </a:r>
          </a:p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·  Marketplace agents / templates (commission)</a:t>
            </a:r>
          </a:p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·  Audits premium IA · gouvernance</a:t>
            </a:r>
          </a:p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·  White-label agence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5212080"/>
            <a:ext cx="5029200" cy="1325880"/>
          </a:xfrm>
          <a:prstGeom prst="roundRect">
            <a:avLst>
              <a:gd name="adj" fmla="val 8000"/>
            </a:avLst>
          </a:prstGeom>
          <a:solidFill>
            <a:srgbClr val="141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583680" y="5303520"/>
            <a:ext cx="4663440" cy="2368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dirty="0">
                <a:solidFill>
                  <a:srgbClr val="10B981"/>
                </a:solidFill>
                <a:latin typeface="Calibri"/>
              </a:rPr>
              <a:t>Projection </a:t>
            </a:r>
            <a:r>
              <a:rPr sz="1200" b="1" i="0" dirty="0" err="1">
                <a:solidFill>
                  <a:srgbClr val="10B981"/>
                </a:solidFill>
                <a:latin typeface="Calibri"/>
              </a:rPr>
              <a:t>prudente</a:t>
            </a:r>
            <a:r>
              <a:rPr sz="1200" b="1" i="0" dirty="0">
                <a:solidFill>
                  <a:srgbClr val="10B981"/>
                </a:solidFill>
                <a:latin typeface="Calibri"/>
              </a:rPr>
              <a:t> (</a:t>
            </a:r>
            <a:r>
              <a:rPr sz="1200" b="1" i="0" dirty="0" err="1">
                <a:solidFill>
                  <a:srgbClr val="10B981"/>
                </a:solidFill>
                <a:latin typeface="Calibri"/>
              </a:rPr>
              <a:t>hypothèse</a:t>
            </a:r>
            <a:r>
              <a:rPr sz="1200" b="1" i="0" dirty="0">
                <a:solidFill>
                  <a:srgbClr val="10B981"/>
                </a:solidFill>
                <a:latin typeface="Calibri"/>
              </a:rPr>
              <a:t>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5623560"/>
            <a:ext cx="466344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·  M1     :  0-300 €</a:t>
            </a:r>
          </a:p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·  M3     :  600-3 000 €/mois</a:t>
            </a:r>
          </a:p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·  M6     :  5 000-15 000 €/mois (validation marché)</a:t>
            </a:r>
          </a:p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·  M12   :  20 000-80 000 €/mois (scénario ambitieux)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6E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2011680" cy="34747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TRIPLE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B1438"/>
                </a:solidFill>
                <a:latin typeface="Calibri"/>
              </a:rPr>
              <a:t>Économique · Environnemental · Social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2287" y="2011680"/>
            <a:ext cx="3657600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6E4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72287" y="2011680"/>
            <a:ext cx="3657600" cy="822960"/>
          </a:xfrm>
          <a:prstGeom prst="rect">
            <a:avLst/>
          </a:prstGeom>
          <a:solidFill>
            <a:srgbClr val="6E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935327" y="2148840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935327" y="2148840"/>
            <a:ext cx="731520" cy="7315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6E4BFF"/>
                </a:solidFill>
                <a:latin typeface="Calibri"/>
              </a:rPr>
              <a:t>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287" y="2971800"/>
            <a:ext cx="36576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6E4BFF"/>
                </a:solidFill>
                <a:latin typeface="Calibri"/>
              </a:rPr>
              <a:t>ÉCONOMIQUE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887" y="3712464"/>
            <a:ext cx="164592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6E4BFF"/>
                </a:solidFill>
                <a:latin typeface="Calibri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5207" y="3566160"/>
            <a:ext cx="301752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A2E3A"/>
                </a:solidFill>
                <a:latin typeface="Calibri"/>
              </a:rPr>
              <a:t>Gain de temps de livraison consultant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887" y="4306824"/>
            <a:ext cx="164592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6E4BFF"/>
                </a:solidFill>
                <a:latin typeface="Calibri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5207" y="4160520"/>
            <a:ext cx="301752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A2E3A"/>
                </a:solidFill>
                <a:latin typeface="Calibri"/>
              </a:rPr>
              <a:t>Réduction des erreurs en production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0887" y="4901184"/>
            <a:ext cx="164592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6E4BFF"/>
                </a:solidFill>
                <a:latin typeface="Calibri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5207" y="4754880"/>
            <a:ext cx="301752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A2E3A"/>
                </a:solidFill>
                <a:latin typeface="Calibri"/>
              </a:rPr>
              <a:t>Nouveaux revenus pour freelances / agences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0887" y="5495544"/>
            <a:ext cx="164592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6E4BFF"/>
                </a:solidFill>
                <a:latin typeface="Calibri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5207" y="5349240"/>
            <a:ext cx="301752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A2E3A"/>
                </a:solidFill>
                <a:latin typeface="Calibri"/>
              </a:rPr>
              <a:t>Maîtrise des coûts API LLM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0887" y="6089904"/>
            <a:ext cx="164592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6E4BFF"/>
                </a:solidFill>
                <a:latin typeface="Calibri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5207" y="5943600"/>
            <a:ext cx="301752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A2E3A"/>
                </a:solidFill>
                <a:latin typeface="Calibri"/>
              </a:rPr>
              <a:t>SaaS récurrent ↔ revenus prévisibles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67047" y="2011680"/>
            <a:ext cx="3657600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267047" y="2011680"/>
            <a:ext cx="3657600" cy="8229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5730087" y="2148840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730087" y="2148840"/>
            <a:ext cx="731520" cy="7315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10B981"/>
                </a:solidFill>
                <a:latin typeface="Calibri"/>
              </a:rPr>
              <a:t>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67047" y="2971800"/>
            <a:ext cx="36576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0B981"/>
                </a:solidFill>
                <a:latin typeface="Calibri"/>
              </a:rPr>
              <a:t>ENVIRONNEMENTAL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95647" y="3712464"/>
            <a:ext cx="164592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0B981"/>
                </a:solidFill>
                <a:latin typeface="Calibri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69967" y="3566160"/>
            <a:ext cx="301752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A2E3A"/>
                </a:solidFill>
                <a:latin typeface="Calibri"/>
              </a:rPr>
              <a:t>Limite la duplication d'agents redondants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95647" y="4306824"/>
            <a:ext cx="164592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0B981"/>
                </a:solidFill>
                <a:latin typeface="Calibri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69967" y="4160520"/>
            <a:ext cx="301752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A2E3A"/>
                </a:solidFill>
                <a:latin typeface="Calibri"/>
              </a:rPr>
              <a:t>Cache + optimisation des appels LLM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95647" y="4901184"/>
            <a:ext cx="164592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0B981"/>
                </a:solidFill>
                <a:latin typeface="Calibri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69967" y="4754880"/>
            <a:ext cx="301752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A2E3A"/>
                </a:solidFill>
                <a:latin typeface="Calibri"/>
              </a:rPr>
              <a:t>Score de sobriété numérique visible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95647" y="5495544"/>
            <a:ext cx="164592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0B981"/>
                </a:solidFill>
                <a:latin typeface="Calibri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69967" y="5349240"/>
            <a:ext cx="301752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A2E3A"/>
                </a:solidFill>
                <a:latin typeface="Calibri"/>
              </a:rPr>
              <a:t>Réutilisation &gt; création depuis zéro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95647" y="6089904"/>
            <a:ext cx="164592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0B981"/>
                </a:solidFill>
                <a:latin typeface="Calibri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69967" y="5943600"/>
            <a:ext cx="301752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A2E3A"/>
                </a:solidFill>
                <a:latin typeface="Calibri"/>
              </a:rPr>
              <a:t>L'IA n'est pas neutre : rendre l'impact visible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61807" y="2011680"/>
            <a:ext cx="3657600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061807" y="2011680"/>
            <a:ext cx="3657600" cy="8229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9524847" y="2148840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524847" y="2148840"/>
            <a:ext cx="731520" cy="7315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F59E0B"/>
                </a:solidFill>
                <a:latin typeface="Calibri"/>
              </a:rPr>
              <a:t>♟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61807" y="2971800"/>
            <a:ext cx="36576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59E0B"/>
                </a:solidFill>
                <a:latin typeface="Calibri"/>
              </a:rPr>
              <a:t>SOCIAL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90407" y="3712464"/>
            <a:ext cx="164592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59E0B"/>
                </a:solidFill>
                <a:latin typeface="Calibri"/>
              </a:rPr>
              <a:t>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64727" y="3566160"/>
            <a:ext cx="301752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A2E3A"/>
                </a:solidFill>
                <a:latin typeface="Calibri"/>
              </a:rPr>
              <a:t>Démocratise les agents IA hors GAFAM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90407" y="4306824"/>
            <a:ext cx="164592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59E0B"/>
                </a:solidFill>
                <a:latin typeface="Calibri"/>
              </a:rPr>
              <a:t>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64727" y="4160520"/>
            <a:ext cx="301752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A2E3A"/>
                </a:solidFill>
                <a:latin typeface="Calibri"/>
              </a:rPr>
              <a:t>Montée en compétences consultants / PME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90407" y="4901184"/>
            <a:ext cx="164592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59E0B"/>
                </a:solidFill>
                <a:latin typeface="Calibri"/>
              </a:rPr>
              <a:t>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64727" y="4754880"/>
            <a:ext cx="301752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A2E3A"/>
                </a:solidFill>
                <a:latin typeface="Calibri"/>
              </a:rPr>
              <a:t>Contrôle humain sur actions sensibles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90407" y="5495544"/>
            <a:ext cx="164592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59E0B"/>
                </a:solidFill>
                <a:latin typeface="Calibri"/>
              </a:rPr>
              <a:t>•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64727" y="5349240"/>
            <a:ext cx="301752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A2E3A"/>
                </a:solidFill>
                <a:latin typeface="Calibri"/>
              </a:rPr>
              <a:t>Transparence : tout est tracé et explicable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90407" y="6089904"/>
            <a:ext cx="164592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59E0B"/>
                </a:solidFill>
                <a:latin typeface="Calibri"/>
              </a:rPr>
              <a:t>•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64727" y="5943600"/>
            <a:ext cx="301752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A2E3A"/>
                </a:solidFill>
                <a:latin typeface="Calibri"/>
              </a:rPr>
              <a:t>Prévient usages abusifs (RGPD, biais)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645920" cy="347472"/>
          </a:xfrm>
          <a:prstGeom prst="roundRect">
            <a:avLst>
              <a:gd name="adj" fmla="val 50000"/>
            </a:avLst>
          </a:prstGeom>
          <a:solidFill>
            <a:srgbClr val="6E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645920" cy="34747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Du MVP à la plateforme — 4 phases sur 6 mois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95147" y="2240280"/>
            <a:ext cx="11201400" cy="91440"/>
          </a:xfrm>
          <a:prstGeom prst="rect">
            <a:avLst/>
          </a:prstGeom>
          <a:solidFill>
            <a:srgbClr val="6E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615287" y="21031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6E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615287" y="2103120"/>
            <a:ext cx="4572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5147" y="2606040"/>
            <a:ext cx="2697480" cy="4114800"/>
          </a:xfrm>
          <a:prstGeom prst="roundRect">
            <a:avLst>
              <a:gd name="adj" fmla="val 8000"/>
            </a:avLst>
          </a:prstGeom>
          <a:solidFill>
            <a:srgbClr val="141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3747" y="2788920"/>
            <a:ext cx="22402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9E82FF"/>
                </a:solidFill>
                <a:latin typeface="Calibri"/>
              </a:rPr>
              <a:t>PHASE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3747" y="3154680"/>
            <a:ext cx="22402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30 jours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3747" y="3566160"/>
            <a:ext cx="22402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0B981"/>
                </a:solidFill>
                <a:latin typeface="Calibri"/>
              </a:rPr>
              <a:t>Validation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3747" y="3931920"/>
            <a:ext cx="640080" cy="27432"/>
          </a:xfrm>
          <a:prstGeom prst="rect">
            <a:avLst/>
          </a:prstGeom>
          <a:solidFill>
            <a:srgbClr val="6E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3747" y="4160520"/>
            <a:ext cx="182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E82FF"/>
                </a:solidFill>
                <a:latin typeface="Calibri"/>
              </a:rP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2347" y="4114800"/>
            <a:ext cx="214884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Landing page + waiting 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3747" y="4663440"/>
            <a:ext cx="182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E82FF"/>
                </a:solidFill>
                <a:latin typeface="Calibri"/>
              </a:rPr>
              <a:t>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2347" y="4617720"/>
            <a:ext cx="214884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Annuaire qualifié d'agents 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3747" y="5166360"/>
            <a:ext cx="182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E82FF"/>
                </a:solidFill>
                <a:latin typeface="Calibri"/>
              </a:rPr>
              <a:t>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2347" y="5120640"/>
            <a:ext cx="214884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Upload + analyse 1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3747" y="5669280"/>
            <a:ext cx="182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E82FF"/>
                </a:solidFill>
                <a:latin typeface="Calibri"/>
              </a:rPr>
              <a:t>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2347" y="5623560"/>
            <a:ext cx="214884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Documentation auto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3747" y="6172200"/>
            <a:ext cx="182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E82FF"/>
                </a:solidFill>
                <a:latin typeface="Calibri"/>
              </a:rPr>
              <a:t>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2347" y="6126480"/>
            <a:ext cx="214884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5-10 tests utilisateurs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49927" y="21031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6E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49927" y="2103120"/>
            <a:ext cx="4572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29787" y="2606040"/>
            <a:ext cx="2697480" cy="4114800"/>
          </a:xfrm>
          <a:prstGeom prst="roundRect">
            <a:avLst>
              <a:gd name="adj" fmla="val 8000"/>
            </a:avLst>
          </a:prstGeom>
          <a:solidFill>
            <a:srgbClr val="141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558387" y="2788920"/>
            <a:ext cx="22402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9E82FF"/>
                </a:solidFill>
                <a:latin typeface="Calibri"/>
              </a:rPr>
              <a:t>PHASE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58387" y="3154680"/>
            <a:ext cx="22402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60 jours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58387" y="3566160"/>
            <a:ext cx="22402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0B981"/>
                </a:solidFill>
                <a:latin typeface="Calibri"/>
              </a:rPr>
              <a:t>MVP fonctionnel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58387" y="3931920"/>
            <a:ext cx="640080" cy="27432"/>
          </a:xfrm>
          <a:prstGeom prst="rect">
            <a:avLst/>
          </a:prstGeom>
          <a:solidFill>
            <a:srgbClr val="6E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558387" y="4160520"/>
            <a:ext cx="182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E82FF"/>
                </a:solidFill>
                <a:latin typeface="Calibri"/>
              </a:rPr>
              <a:t>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86987" y="4114800"/>
            <a:ext cx="214884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Scoring risque · coût · permissions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58387" y="4663440"/>
            <a:ext cx="182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E82FF"/>
                </a:solidFill>
                <a:latin typeface="Calibri"/>
              </a:rPr>
              <a:t>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86987" y="4617720"/>
            <a:ext cx="214884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Connecteurs MCP / n8n / Make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58387" y="5166360"/>
            <a:ext cx="182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E82FF"/>
                </a:solidFill>
                <a:latin typeface="Calibri"/>
              </a:rPr>
              <a:t>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86987" y="5120640"/>
            <a:ext cx="214884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Dashboard monitoring v1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58387" y="5669280"/>
            <a:ext cx="182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E82FF"/>
                </a:solidFill>
                <a:latin typeface="Calibri"/>
              </a:rPr>
              <a:t>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86987" y="5623560"/>
            <a:ext cx="214884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Onboarding self-serve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84567" y="21031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6E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284567" y="2103120"/>
            <a:ext cx="4572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64427" y="2606040"/>
            <a:ext cx="2697480" cy="4114800"/>
          </a:xfrm>
          <a:prstGeom prst="roundRect">
            <a:avLst>
              <a:gd name="adj" fmla="val 8000"/>
            </a:avLst>
          </a:prstGeom>
          <a:solidFill>
            <a:srgbClr val="141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393027" y="2788920"/>
            <a:ext cx="22402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9E82FF"/>
                </a:solidFill>
                <a:latin typeface="Calibri"/>
              </a:rPr>
              <a:t>PHASE 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93027" y="3154680"/>
            <a:ext cx="22402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90 jours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93027" y="3566160"/>
            <a:ext cx="22402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0B981"/>
                </a:solidFill>
                <a:latin typeface="Calibri"/>
              </a:rPr>
              <a:t>Monétisation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93027" y="3931920"/>
            <a:ext cx="640080" cy="27432"/>
          </a:xfrm>
          <a:prstGeom prst="rect">
            <a:avLst/>
          </a:prstGeom>
          <a:solidFill>
            <a:srgbClr val="6E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393027" y="4160520"/>
            <a:ext cx="182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E82FF"/>
                </a:solidFill>
                <a:latin typeface="Calibri"/>
              </a:rPr>
              <a:t>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1627" y="4114800"/>
            <a:ext cx="214884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Orchestration multi-agents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93027" y="4663440"/>
            <a:ext cx="182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E82FF"/>
                </a:solidFill>
                <a:latin typeface="Calibri"/>
              </a:rPr>
              <a:t>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21627" y="4617720"/>
            <a:ext cx="214884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Rapports ROI client-ready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93027" y="5166360"/>
            <a:ext cx="182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E82FF"/>
                </a:solidFill>
                <a:latin typeface="Calibri"/>
              </a:rPr>
              <a:t>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21627" y="5120640"/>
            <a:ext cx="214884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Bêta payante freelances / agences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93027" y="5669280"/>
            <a:ext cx="182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E82FF"/>
                </a:solidFill>
                <a:latin typeface="Calibri"/>
              </a:rPr>
              <a:t>▸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21627" y="5623560"/>
            <a:ext cx="214884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Premiers cas d'usage facturés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119207" y="21031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6E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0119207" y="2103120"/>
            <a:ext cx="4572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999067" y="2606040"/>
            <a:ext cx="2697480" cy="4114800"/>
          </a:xfrm>
          <a:prstGeom prst="roundRect">
            <a:avLst>
              <a:gd name="adj" fmla="val 8000"/>
            </a:avLst>
          </a:prstGeom>
          <a:solidFill>
            <a:srgbClr val="141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227667" y="2788920"/>
            <a:ext cx="22402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9E82FF"/>
                </a:solidFill>
                <a:latin typeface="Calibri"/>
              </a:rPr>
              <a:t>PHASE 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227667" y="3154680"/>
            <a:ext cx="22402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6 mois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227667" y="3566160"/>
            <a:ext cx="22402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0B981"/>
                </a:solidFill>
                <a:latin typeface="Calibri"/>
              </a:rPr>
              <a:t>Scale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227667" y="3931920"/>
            <a:ext cx="640080" cy="27432"/>
          </a:xfrm>
          <a:prstGeom prst="rect">
            <a:avLst/>
          </a:prstGeom>
          <a:solidFill>
            <a:srgbClr val="6E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227667" y="4160520"/>
            <a:ext cx="182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E82FF"/>
                </a:solidFill>
                <a:latin typeface="Calibri"/>
              </a:rPr>
              <a:t>▸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456267" y="4114800"/>
            <a:ext cx="214884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API publique pay-per-use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227667" y="4663440"/>
            <a:ext cx="182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E82FF"/>
                </a:solidFill>
                <a:latin typeface="Calibri"/>
              </a:rPr>
              <a:t>▸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456267" y="4617720"/>
            <a:ext cx="214884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Marketplace agents / templates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227667" y="5166360"/>
            <a:ext cx="182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E82FF"/>
                </a:solidFill>
                <a:latin typeface="Calibri"/>
              </a:rPr>
              <a:t>▸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456267" y="5120640"/>
            <a:ext cx="214884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Offre Agency + Enterprise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227667" y="5669280"/>
            <a:ext cx="182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E82FF"/>
                </a:solidFill>
                <a:latin typeface="Calibri"/>
              </a:rPr>
              <a:t>▸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456267" y="5623560"/>
            <a:ext cx="214884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Gouvernance avancée + SSO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0B1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9E82FF"/>
                </a:solidFill>
                <a:latin typeface="Calibri"/>
              </a:rPr>
              <a:t>CONCLUSION  ·  DEMANDE D'ACCOMPAGNEMENT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9728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Orkestra IA veut devenir la couche de confiance entre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9E82FF"/>
                </a:solidFill>
                <a:latin typeface="Calibri"/>
              </a:rPr>
              <a:t>les agents IA et les organisations qui les utilisent.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4291" y="2377440"/>
            <a:ext cx="2148840" cy="2468880"/>
          </a:xfrm>
          <a:prstGeom prst="roundRect">
            <a:avLst>
              <a:gd name="adj" fmla="val 10000"/>
            </a:avLst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304391" y="265176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6E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04391" y="2651760"/>
            <a:ext cx="5486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451" y="3337560"/>
            <a:ext cx="18745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B1438"/>
                </a:solidFill>
                <a:latin typeface="Calibri"/>
              </a:rPr>
              <a:t>Accompagnement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7171" y="3749040"/>
            <a:ext cx="1783080" cy="10058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2A2E3A"/>
                </a:solidFill>
                <a:latin typeface="Calibri"/>
              </a:rPr>
              <a:t>École / SNE / statut</a:t>
            </a:r>
          </a:p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2A2E3A"/>
                </a:solidFill>
                <a:latin typeface="Calibri"/>
              </a:rPr>
              <a:t>étudiant-entrepreneur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08579" y="2377440"/>
            <a:ext cx="2148840" cy="2468880"/>
          </a:xfrm>
          <a:prstGeom prst="roundRect">
            <a:avLst>
              <a:gd name="adj" fmla="val 10000"/>
            </a:avLst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562959" y="265176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6E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62959" y="2651760"/>
            <a:ext cx="5486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00019" y="3337560"/>
            <a:ext cx="18745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B1438"/>
                </a:solidFill>
                <a:latin typeface="Calibri"/>
              </a:rPr>
              <a:t>Feedback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45739" y="3749040"/>
            <a:ext cx="1783080" cy="10058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2A2E3A"/>
                </a:solidFill>
                <a:latin typeface="Calibri"/>
              </a:rPr>
              <a:t>Stratégie · positionnement</a:t>
            </a:r>
          </a:p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2A2E3A"/>
                </a:solidFill>
                <a:latin typeface="Calibri"/>
              </a:rPr>
              <a:t>business model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1427" y="2377440"/>
            <a:ext cx="2148840" cy="2468880"/>
          </a:xfrm>
          <a:prstGeom prst="roundRect">
            <a:avLst>
              <a:gd name="adj" fmla="val 10000"/>
            </a:avLst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821527" y="265176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6E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821527" y="2651760"/>
            <a:ext cx="5486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58587" y="3337560"/>
            <a:ext cx="18745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B1438"/>
                </a:solidFill>
                <a:latin typeface="Calibri"/>
              </a:rPr>
              <a:t>Réseau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04307" y="3749040"/>
            <a:ext cx="1783080" cy="10058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2A2E3A"/>
                </a:solidFill>
                <a:latin typeface="Calibri"/>
              </a:rPr>
              <a:t>Mentors · investisseurs</a:t>
            </a:r>
          </a:p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2A2E3A"/>
                </a:solidFill>
                <a:latin typeface="Calibri"/>
              </a:rPr>
              <a:t>partenaires techniques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79995" y="2377440"/>
            <a:ext cx="2148840" cy="2468880"/>
          </a:xfrm>
          <a:prstGeom prst="roundRect">
            <a:avLst>
              <a:gd name="adj" fmla="val 10000"/>
            </a:avLst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080095" y="265176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6E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80095" y="2651760"/>
            <a:ext cx="5486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17155" y="3337560"/>
            <a:ext cx="18745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B1438"/>
                </a:solidFill>
                <a:latin typeface="Calibri"/>
              </a:rPr>
              <a:t>Tests utilisateurs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62875" y="3749040"/>
            <a:ext cx="1783080" cy="10058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2A2E3A"/>
                </a:solidFill>
                <a:latin typeface="Calibri"/>
              </a:rPr>
              <a:t>Freelances · agences IA</a:t>
            </a:r>
          </a:p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2A2E3A"/>
                </a:solidFill>
                <a:latin typeface="Calibri"/>
              </a:rPr>
              <a:t>PME digitales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38563" y="2377440"/>
            <a:ext cx="2148840" cy="2468880"/>
          </a:xfrm>
          <a:prstGeom prst="roundRect">
            <a:avLst>
              <a:gd name="adj" fmla="val 10000"/>
            </a:avLst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338663" y="265176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6E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338663" y="2651760"/>
            <a:ext cx="5486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75723" y="3337560"/>
            <a:ext cx="18745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B1438"/>
                </a:solidFill>
                <a:latin typeface="Calibri"/>
              </a:rPr>
              <a:t>Structuration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21443" y="3749040"/>
            <a:ext cx="1783080" cy="10058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2A2E3A"/>
                </a:solidFill>
                <a:latin typeface="Calibri"/>
              </a:rPr>
              <a:t>MVP · pitch · go-to-market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5212080"/>
            <a:ext cx="10698480" cy="1097280"/>
          </a:xfrm>
          <a:prstGeom prst="roundRect">
            <a:avLst>
              <a:gd name="adj" fmla="val 8000"/>
            </a:avLst>
          </a:prstGeom>
          <a:solidFill>
            <a:srgbClr val="6E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4400" y="5349240"/>
            <a:ext cx="1033272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Prochaine étape  :  validation du MVP avec 10 freelances / agences sur 30 jours.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806440"/>
            <a:ext cx="10332720" cy="2368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lang="fr-FR" sz="1200" i="1" dirty="0" err="1">
                <a:solidFill>
                  <a:srgbClr val="FFFFFF"/>
                </a:solidFill>
                <a:latin typeface="Calibri"/>
              </a:rPr>
              <a:t>Manivit.lucas</a:t>
            </a:r>
            <a:r>
              <a:rPr sz="1200" b="0" i="1" dirty="0">
                <a:solidFill>
                  <a:srgbClr val="FFFFFF"/>
                </a:solidFill>
                <a:latin typeface="Calibri"/>
              </a:rPr>
              <a:t>@gmail.com  ·  Lucas </a:t>
            </a:r>
            <a:r>
              <a:rPr sz="1200" b="0" i="1" dirty="0" err="1">
                <a:solidFill>
                  <a:srgbClr val="FFFFFF"/>
                </a:solidFill>
                <a:latin typeface="Calibri"/>
              </a:rPr>
              <a:t>Manivit</a:t>
            </a:r>
            <a:r>
              <a:rPr sz="1200" b="0" i="1" dirty="0">
                <a:solidFill>
                  <a:srgbClr val="FFFFFF"/>
                </a:solidFill>
                <a:latin typeface="Calibri"/>
              </a:rPr>
              <a:t>  ·  ESIEE-IT  ·  Mai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1">
                <a:solidFill>
                  <a:srgbClr val="0B1438"/>
                </a:solidFill>
                <a:latin typeface="Calibri"/>
              </a:rPr>
              <a:t>« Rendre les agents IA portables, contrôlables et rentables. »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6E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828800" cy="34747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0B1438"/>
                </a:solidFill>
                <a:latin typeface="Calibri"/>
              </a:rPr>
              <a:t>Chiffres marché &amp; références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14400" y="199339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6E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993392"/>
            <a:ext cx="310896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874520"/>
            <a:ext cx="91440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B1438"/>
                </a:solidFill>
                <a:latin typeface="Calibri"/>
              </a:rPr>
              <a:t>Marché AI agents 2025-2030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121408"/>
            <a:ext cx="97840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dirty="0" err="1">
                <a:solidFill>
                  <a:srgbClr val="2A2E3A"/>
                </a:solidFill>
                <a:latin typeface="Calibri"/>
              </a:rPr>
              <a:t>MarketsandMarkets</a:t>
            </a:r>
            <a:r>
              <a:rPr sz="1000" b="0" i="0" dirty="0">
                <a:solidFill>
                  <a:srgbClr val="2A2E3A"/>
                </a:solidFill>
                <a:latin typeface="Calibri"/>
              </a:rPr>
              <a:t> — AI Agents Market Report 2025-2030 : 7,84 Md$ </a:t>
            </a:r>
            <a:r>
              <a:rPr sz="1000" b="0" i="0" dirty="0" err="1">
                <a:solidFill>
                  <a:srgbClr val="2A2E3A"/>
                </a:solidFill>
                <a:latin typeface="Calibri"/>
              </a:rPr>
              <a:t>en</a:t>
            </a:r>
            <a:r>
              <a:rPr sz="1000" b="0" i="0" dirty="0">
                <a:solidFill>
                  <a:srgbClr val="2A2E3A"/>
                </a:solidFill>
                <a:latin typeface="Calibri"/>
              </a:rPr>
              <a:t> 2025 → 52,62 Md$ </a:t>
            </a:r>
            <a:r>
              <a:rPr sz="1000" b="0" i="0" dirty="0" err="1">
                <a:solidFill>
                  <a:srgbClr val="2A2E3A"/>
                </a:solidFill>
                <a:latin typeface="Calibri"/>
              </a:rPr>
              <a:t>en</a:t>
            </a:r>
            <a:r>
              <a:rPr sz="1000" b="0" i="0" dirty="0">
                <a:solidFill>
                  <a:srgbClr val="2A2E3A"/>
                </a:solidFill>
                <a:latin typeface="Calibri"/>
              </a:rPr>
              <a:t> 2030, CAGR 46,3%.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542032"/>
            <a:ext cx="1069848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14400" y="2706624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6E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2706624"/>
            <a:ext cx="310896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587752"/>
            <a:ext cx="91440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B1438"/>
                </a:solidFill>
                <a:latin typeface="Calibri"/>
              </a:rPr>
              <a:t>Marché AI agents (cross-check)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834640"/>
            <a:ext cx="97840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A2E3A"/>
                </a:solidFill>
                <a:latin typeface="Calibri"/>
              </a:rPr>
              <a:t>Grand View Research, mai 2025 : 50,31 Md$ en 2030, CAGR 45,8%. Convergence des deux études.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255264"/>
            <a:ext cx="1069848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14400" y="3419856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6E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3419856"/>
            <a:ext cx="310896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300984"/>
            <a:ext cx="91440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B1438"/>
                </a:solidFill>
                <a:latin typeface="Calibri"/>
              </a:rPr>
              <a:t>n8n — automatisation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547872"/>
            <a:ext cx="97840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A2E3A"/>
                </a:solidFill>
                <a:latin typeface="Calibri"/>
              </a:rPr>
              <a:t>Série B (mars 2025) : 55 M€ @ valo 300 M€ — Highland Europe + Sequoia. Série C (oct 2025) : 180 M$ @ valo 2,5 Md$ — Accel + NVentures. ARR ≈ 40 M$.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968496"/>
            <a:ext cx="1069848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14400" y="413308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6E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4133088"/>
            <a:ext cx="310896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014216"/>
            <a:ext cx="91440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B1438"/>
                </a:solidFill>
                <a:latin typeface="Calibri"/>
              </a:rPr>
              <a:t>LangChain — framework agents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261104"/>
            <a:ext cx="97840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A2E3A"/>
                </a:solidFill>
                <a:latin typeface="Calibri"/>
              </a:rPr>
              <a:t>Série B (oct 2025) : 125 M$ @ valo 1,25 Md$ — IVP + Sequoia, Benchmark, CapitalG. Total levé ≈ 160 M$. ARR ≈ 16 M$.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681728"/>
            <a:ext cx="1069848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14400" y="484632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6E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4846320"/>
            <a:ext cx="310896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727448"/>
            <a:ext cx="91440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B1438"/>
                </a:solidFill>
                <a:latin typeface="Calibri"/>
              </a:rPr>
              <a:t>CrewAI — orchestration multi-agents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4974336"/>
            <a:ext cx="97840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A2E3A"/>
                </a:solidFill>
                <a:latin typeface="Calibri"/>
              </a:rPr>
              <a:t>Série A (oct 2024) : 18 M$ — Insight Partners + boldstart. Plus de 10 M agents exécutés / mois. Présent chez ~50% du Fortune 500.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</a:rPr>
              <a:t>Recherche : MarketsandMarkets, Grand View Research, blog n8n, blog LangChain, Insight Partners, Crunchbase, Fortune — mai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3659</TotalTime>
  <Words>2550</Words>
  <Application>Microsoft Office PowerPoint</Application>
  <PresentationFormat>Grand écran</PresentationFormat>
  <Paragraphs>435</Paragraphs>
  <Slides>13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Franck</cp:lastModifiedBy>
  <cp:revision>4</cp:revision>
  <dcterms:created xsi:type="dcterms:W3CDTF">2013-01-27T09:14:16Z</dcterms:created>
  <dcterms:modified xsi:type="dcterms:W3CDTF">2026-06-09T13:18:49Z</dcterms:modified>
  <cp:category/>
</cp:coreProperties>
</file>